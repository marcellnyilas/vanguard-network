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58" r:id="rId3"/>
    <p:sldId id="259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62" r:id="rId14"/>
    <p:sldId id="261" r:id="rId15"/>
    <p:sldId id="274" r:id="rId16"/>
    <p:sldId id="273" r:id="rId17"/>
    <p:sldId id="271" r:id="rId18"/>
    <p:sldId id="276" r:id="rId19"/>
    <p:sldId id="275" r:id="rId20"/>
    <p:sldId id="272" r:id="rId21"/>
    <p:sldId id="25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998" autoAdjust="0"/>
  </p:normalViewPr>
  <p:slideViewPr>
    <p:cSldViewPr snapToGrid="0">
      <p:cViewPr varScale="1">
        <p:scale>
          <a:sx n="67" d="100"/>
          <a:sy n="67" d="100"/>
        </p:scale>
        <p:origin x="6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15170A-2158-4A8A-8DC6-5F66235307F3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C8DE43-8A86-4C0A-AAE9-F0A77234DD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32734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During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design,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didn't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just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focus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basics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;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focused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security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from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start.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built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flexible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structure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grow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with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company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while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keeping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long-term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maintenance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costs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1195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"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Regarding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made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check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each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other’s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tasks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constantly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While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configuration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other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updating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documents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testing.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helped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avoid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mistakes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create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system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easy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anyone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understand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05360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simulated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Cisco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Packet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Tracer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test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everything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before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'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-life'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mixed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topology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maximum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stability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device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protected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with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encrypted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passwords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The most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important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part is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redundancy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cable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path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fails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traffic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switches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another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instantly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users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won't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notice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error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18793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Education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VLANs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keep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traffic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from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slowing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down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rest of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company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device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gets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 IP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address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automatically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DHCP.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dual-band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WiFi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stable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connection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dynamic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handles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paths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automatically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without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needing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fix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hand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55066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Office,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ACLs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(Access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Control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Lists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boost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security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practice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means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strictly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limited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Finance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department's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traffic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authorized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people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sensitive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Dynamic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ensures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always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travels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fastest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path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servers."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67937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Since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Dispatch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Center is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physically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close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other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units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high-speed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direct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connections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kept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VPN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secure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remote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access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managers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check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processes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safely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from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outside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office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combines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local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speed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with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flexibility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remote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r>
              <a:rPr lang="hu-HU" dirty="0"/>
              <a:t> 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7604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Accommodation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main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goal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separation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Since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public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zone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up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strict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ACL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blocks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traffic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toward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internal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Guests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internet,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but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cannot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'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peek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'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company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servers. The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dual-band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WiFi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handles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load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but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security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wall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keeps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guests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inside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their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own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boundaries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23888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Entrance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modeled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modern building management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IoT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(Internet of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Things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devices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—like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smart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controller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communicate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through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dedicated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IoT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server,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entry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monitoring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be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handled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centrally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from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distance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12777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Healthcare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applied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highest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security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levels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because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handle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sensitive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here. The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firewall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everything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out,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but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strict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filter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incoming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traffic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nothing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gets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unless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it’s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response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internal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request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also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 ACL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Admin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Room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access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servers."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3059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Warehouse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mix of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solutions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Internal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communication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dynamic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up-to-date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However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translated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fixed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external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addresses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static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ensures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warehouse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system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stays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reachable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if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other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parts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change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280750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Hangars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most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visible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part is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IoT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integration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garage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doors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smart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devices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connected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IoT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server.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allows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remote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automatic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control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same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double-routing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logic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here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ensure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sensor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reacts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instantly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without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delay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8426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MARCI -- 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"The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Admin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Room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brain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our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where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modern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Dual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Stack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solution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means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our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system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handles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both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IPv4 and IPv6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addresses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at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same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time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The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heart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room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a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Multilayer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Switch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which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much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smarter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than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regular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it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handles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high-level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connects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all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departments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78594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"The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Command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Center is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other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strategic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point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also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Stack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allows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communicate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with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both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old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new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devices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Multilayer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Switch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ensures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fast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travel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between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VLANs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high-speed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processing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command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decisions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reach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their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destination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best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possible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path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25485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part,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simulated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ISP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connects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outside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world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The most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important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process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here is NAT (Network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Address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Translation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'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translates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'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private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internal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addresses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single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public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address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saves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addresses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layer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safety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because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internal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hidden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from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internet."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3016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"The last and most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important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part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systematic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testing.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recorded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configuration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error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bug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Jira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didn't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hide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problems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;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these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'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tickets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'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fix and re-test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section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guaranteed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final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system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stable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everything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works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exactly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planned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4914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– 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Jira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Scrum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method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track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tasks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Bug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tracking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key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problem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found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during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testing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solved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step-by-step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also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GitHub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file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sharing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version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control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'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Branches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'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helped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avoid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overwriting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each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other’s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494393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– 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"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modeled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server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side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VirtualBox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Windows Server and Debian Linux.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Windows,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up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Active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Directory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central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management,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along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with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DNS and web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services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(IIS).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Group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Policies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keep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every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computer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secure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Linux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its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stability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support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DHCP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functions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29583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MARCI – PATRIK -- 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Finally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used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several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tools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help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our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work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Discord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internal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chat, and Google Drive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storing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documents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recorded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our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with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OBS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Studio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edited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final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videos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DaVinci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Resolve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make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presentation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look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professional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29486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"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you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chart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split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almost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perfectly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50-50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between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Marcell and Patrik. The 100+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hours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measured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each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Jira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shows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amount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brainstorming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bug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-fixing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balanced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teamwork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key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delivering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fully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tested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time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."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8DE43-8A86-4C0A-AAE9-F0A77234DDB0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77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70282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95743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3890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84979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28778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9652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4486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40535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3006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0161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155876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31826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061311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3003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82032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71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03705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085440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47D3E1-6582-7927-7215-16F780075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/>
          <a:lstStyle/>
          <a:p>
            <a:r>
              <a:rPr lang="hu-HU" dirty="0" err="1">
                <a:solidFill>
                  <a:schemeClr val="tx1"/>
                </a:solidFill>
              </a:rPr>
              <a:t>Shadowhawk</a:t>
            </a:r>
            <a:r>
              <a:rPr lang="hu-HU" dirty="0">
                <a:solidFill>
                  <a:schemeClr val="tx1"/>
                </a:solidFill>
              </a:rPr>
              <a:t>-Fort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62AD4B9-0DC3-159F-A608-C34BBD29AC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491705" y="6388370"/>
            <a:ext cx="8962844" cy="435124"/>
          </a:xfrm>
        </p:spPr>
        <p:txBody>
          <a:bodyPr>
            <a:noAutofit/>
          </a:bodyPr>
          <a:lstStyle/>
          <a:p>
            <a:r>
              <a:rPr lang="hu-HU" sz="2400" dirty="0"/>
              <a:t>Created by: Marcell Gergely Nyilas and Patrik Károly Grecz</a:t>
            </a:r>
          </a:p>
        </p:txBody>
      </p:sp>
    </p:spTree>
    <p:extLst>
      <p:ext uri="{BB962C8B-B14F-4D97-AF65-F5344CB8AC3E}">
        <p14:creationId xmlns:p14="http://schemas.microsoft.com/office/powerpoint/2010/main" val="261912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Introduction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400" dirty="0">
                <a:solidFill>
                  <a:schemeClr val="tx1"/>
                </a:solidFill>
              </a:rPr>
              <a:t>Our Name: Vanguard-Network</a:t>
            </a:r>
          </a:p>
          <a:p>
            <a:r>
              <a:rPr lang="hu-HU" sz="2400" dirty="0">
                <a:solidFill>
                  <a:schemeClr val="tx1"/>
                </a:solidFill>
              </a:rPr>
              <a:t>Company: Shadowhawk fort</a:t>
            </a:r>
          </a:p>
          <a:p>
            <a:r>
              <a:rPr lang="hu-HU" sz="2400" dirty="0">
                <a:solidFill>
                  <a:schemeClr val="tx1"/>
                </a:solidFill>
              </a:rPr>
              <a:t>Field of Expertise: Networks, systems, digital infrastructure</a:t>
            </a:r>
          </a:p>
          <a:p>
            <a:r>
              <a:rPr lang="hu-HU" sz="2400" dirty="0">
                <a:solidFill>
                  <a:schemeClr val="tx1"/>
                </a:solidFill>
              </a:rPr>
              <a:t>Goal: Building stable, secure, and cost-effective networks</a:t>
            </a:r>
            <a:endParaRPr lang="hu-HU" dirty="0"/>
          </a:p>
          <a:p>
            <a:endParaRPr lang="hu-HU" dirty="0"/>
          </a:p>
        </p:txBody>
      </p:sp>
      <p:pic>
        <p:nvPicPr>
          <p:cNvPr id="1026" name="Picture 2" descr="Shadowhawk Torches LED Super Bright, 500000 Lumens Rechargeable LED ...">
            <a:extLst>
              <a:ext uri="{FF2B5EF4-FFF2-40B4-BE49-F238E27FC236}">
                <a16:creationId xmlns:a16="http://schemas.microsoft.com/office/drawing/2014/main" id="{4F626314-7E95-887A-9DDE-209CE3409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1120" y="4494176"/>
            <a:ext cx="3333750" cy="1666875"/>
          </a:xfrm>
          <a:prstGeom prst="rect">
            <a:avLst/>
          </a:prstGeom>
          <a:noFill/>
          <a:effectLst>
            <a:softEdge rad="381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 descr="A képen embléma, Grafika, szimbólum, clipart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7B7CDF07-1723-E4C4-050B-FA13F460CF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" t="8932" b="8932"/>
          <a:stretch/>
        </p:blipFill>
        <p:spPr>
          <a:xfrm>
            <a:off x="1578634" y="4494175"/>
            <a:ext cx="3042247" cy="1666875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308921567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Our Team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25747"/>
            <a:ext cx="10353762" cy="4058751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/>
                </a:solidFill>
              </a:rPr>
              <a:t>Marcell Gergely Nyilas (PM)</a:t>
            </a:r>
            <a:endParaRPr lang="hu-HU" sz="2200" dirty="0">
              <a:solidFill>
                <a:schemeClr val="tx1"/>
              </a:solidFill>
            </a:endParaRP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Task tracking, Jira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Network architecture design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Testing</a:t>
            </a:r>
          </a:p>
          <a:p>
            <a:r>
              <a:rPr lang="hu-HU" sz="2400" dirty="0">
                <a:solidFill>
                  <a:schemeClr val="tx1"/>
                </a:solidFill>
              </a:rPr>
              <a:t>Patrik Károly Grecz (PM Support)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Device configuration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Assembling project presentation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Documentation</a:t>
            </a:r>
          </a:p>
          <a:p>
            <a:pPr lvl="1"/>
            <a:endParaRPr lang="hu-HU" sz="2200" dirty="0">
              <a:solidFill>
                <a:schemeClr val="tx1"/>
              </a:solidFill>
            </a:endParaRPr>
          </a:p>
          <a:p>
            <a:pPr lvl="1"/>
            <a:endParaRPr lang="hu-HU" sz="2200" dirty="0">
              <a:solidFill>
                <a:schemeClr val="tx1"/>
              </a:solidFill>
            </a:endParaRPr>
          </a:p>
          <a:p>
            <a:pPr marL="450000" lvl="1" indent="0">
              <a:buNone/>
            </a:pPr>
            <a:endParaRPr lang="hu-HU" sz="2200" dirty="0">
              <a:solidFill>
                <a:schemeClr val="tx1"/>
              </a:solidFill>
            </a:endParaRPr>
          </a:p>
          <a:p>
            <a:endParaRPr lang="hu-H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915439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359434"/>
            <a:ext cx="10353762" cy="970450"/>
          </a:xfrm>
        </p:spPr>
        <p:txBody>
          <a:bodyPr/>
          <a:lstStyle/>
          <a:p>
            <a:pPr algn="ctr"/>
            <a:r>
              <a:rPr lang="hu-HU" dirty="0"/>
              <a:t>Complete Network Setup</a:t>
            </a:r>
          </a:p>
        </p:txBody>
      </p:sp>
      <p:pic>
        <p:nvPicPr>
          <p:cNvPr id="5" name="drawing">
            <a:extLst>
              <a:ext uri="{FF2B5EF4-FFF2-40B4-BE49-F238E27FC236}">
                <a16:creationId xmlns:a16="http://schemas.microsoft.com/office/drawing/2014/main" id="{6A54291B-9791-8EDC-56E8-DD004BCF2E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00161" y="1329884"/>
            <a:ext cx="7539487" cy="536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27308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Education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Wi-Fi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2,4 GHz 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5 GHz</a:t>
            </a:r>
          </a:p>
          <a:p>
            <a:r>
              <a:rPr lang="hu-HU" sz="3000" dirty="0">
                <a:solidFill>
                  <a:schemeClr val="tx1"/>
                </a:solidFill>
              </a:rPr>
              <a:t>Dynamic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3E85D75-BD78-766C-9EA7-CA87D9DC2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219" y="1691484"/>
            <a:ext cx="5003322" cy="41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50332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Office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7"/>
            <a:ext cx="10353762" cy="4720111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Finance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ACL</a:t>
            </a:r>
          </a:p>
          <a:p>
            <a:r>
              <a:rPr lang="hu-HU" sz="2800" dirty="0">
                <a:solidFill>
                  <a:schemeClr val="tx1"/>
                </a:solidFill>
              </a:rPr>
              <a:t>HR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3000" dirty="0">
                <a:solidFill>
                  <a:schemeClr val="tx1"/>
                </a:solidFill>
              </a:rPr>
              <a:t>Dynamic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8B8DCBF-EB81-CF70-77B7-A6530E19F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451" y="1932768"/>
            <a:ext cx="4725059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34947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Dispatcher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VPN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E4DCF32-252C-96A7-68EE-6F75246667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214" y="1942185"/>
            <a:ext cx="4010311" cy="363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52718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Accommodation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633845"/>
          </a:xfrm>
        </p:spPr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Wi-Fi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2,4 GHz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5 GHz</a:t>
            </a:r>
          </a:p>
          <a:p>
            <a:r>
              <a:rPr lang="hu-HU" sz="3000" dirty="0" err="1">
                <a:solidFill>
                  <a:schemeClr val="tx1"/>
                </a:solidFill>
              </a:rPr>
              <a:t>Dynamic</a:t>
            </a:r>
            <a:r>
              <a:rPr lang="hu-HU" sz="3000" dirty="0">
                <a:solidFill>
                  <a:schemeClr val="tx1"/>
                </a:solidFill>
              </a:rPr>
              <a:t> </a:t>
            </a:r>
            <a:r>
              <a:rPr lang="hu-HU" sz="3000" dirty="0" err="1">
                <a:solidFill>
                  <a:schemeClr val="tx1"/>
                </a:solidFill>
              </a:rPr>
              <a:t>routing</a:t>
            </a:r>
            <a:endParaRPr lang="hu-HU" sz="3000" dirty="0">
              <a:solidFill>
                <a:schemeClr val="tx1"/>
              </a:solidFill>
            </a:endParaRPr>
          </a:p>
          <a:p>
            <a:r>
              <a:rPr lang="hu-HU" sz="3000" dirty="0">
                <a:solidFill>
                  <a:schemeClr val="tx1"/>
                </a:solidFill>
              </a:rPr>
              <a:t>ACL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994D685-F3DB-8A8E-7013-816740BAFA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221" y="2012068"/>
            <a:ext cx="4519549" cy="349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62326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Reception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server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device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45618C3-4318-01DF-B065-2D8F8B40A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774" y="2485893"/>
            <a:ext cx="4782217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06573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Healthcare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 err="1">
                <a:solidFill>
                  <a:schemeClr val="tx1"/>
                </a:solidFill>
              </a:rPr>
              <a:t>Firewall</a:t>
            </a:r>
            <a:endParaRPr lang="hu-HU" sz="2800" dirty="0">
              <a:solidFill>
                <a:schemeClr val="tx1"/>
              </a:solidFill>
            </a:endParaRPr>
          </a:p>
          <a:p>
            <a:r>
              <a:rPr lang="hu-HU" sz="2800" dirty="0">
                <a:solidFill>
                  <a:schemeClr val="tx1"/>
                </a:solidFill>
              </a:rPr>
              <a:t>ACL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DD73C12-E7BF-6A7F-325E-5DA6E10C8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0271" y="1998665"/>
            <a:ext cx="3993037" cy="352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125282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Warehouse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78925" cy="4351338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Static NAT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/ Static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9808EC1-4D52-E203-96EA-75A8F7C88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850" y="1825625"/>
            <a:ext cx="4506557" cy="3515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6469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Hangars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45151" cy="4351338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NAT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server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devices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/ Static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C324D5F-CE2C-E882-D7A1-743C1629C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760" y="2104559"/>
            <a:ext cx="4744033" cy="338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46209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Admin Room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IPv6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22A7A36-FCBB-F503-8A81-A158C1D33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913" y="2386959"/>
            <a:ext cx="4873891" cy="259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022404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Command Center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IPv6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Dynamic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6BCE332-5837-D730-E67E-DA44C5DAD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265" y="2445176"/>
            <a:ext cx="4582721" cy="263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75050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51D5E0-7F3E-F64F-C53E-2298C0B14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ISP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3A9E23B-BD7B-2EFB-7E01-EFFF31FA9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5487005" cy="4058751"/>
          </a:xfrm>
        </p:spPr>
        <p:txBody>
          <a:bodyPr anchor="ctr"/>
          <a:lstStyle/>
          <a:p>
            <a:r>
              <a:rPr lang="hu-HU" sz="2800" dirty="0"/>
              <a:t>IPv4</a:t>
            </a:r>
          </a:p>
          <a:p>
            <a:r>
              <a:rPr lang="hu-HU" sz="2800" dirty="0"/>
              <a:t>Static routing</a:t>
            </a:r>
          </a:p>
          <a:p>
            <a:r>
              <a:rPr lang="hu-HU" sz="2800" dirty="0"/>
              <a:t>NAT</a:t>
            </a:r>
          </a:p>
          <a:p>
            <a:endParaRPr lang="hu-HU" dirty="0"/>
          </a:p>
        </p:txBody>
      </p:sp>
      <p:pic>
        <p:nvPicPr>
          <p:cNvPr id="4" name="drawing">
            <a:extLst>
              <a:ext uri="{FF2B5EF4-FFF2-40B4-BE49-F238E27FC236}">
                <a16:creationId xmlns:a16="http://schemas.microsoft.com/office/drawing/2014/main" id="{F8AC661E-F5A4-530D-926F-33218E0AF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9453" y="2549914"/>
            <a:ext cx="5074425" cy="260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0767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C7A5AB-43A0-EC8E-7161-0CCEC6666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2" y="207033"/>
            <a:ext cx="10353762" cy="970450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Testing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A298645-273E-8E18-FD22-4043687B0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23" y="1501313"/>
            <a:ext cx="11267554" cy="472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287049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99D836-7FE9-FF64-9969-F039DCFEB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  <a:effectLst/>
              </a:rPr>
              <a:t>Jira, Scrum &amp; GitHub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CC9E38D2-9DD0-9397-5A1B-02275C3DF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b="1" dirty="0"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Task and Project Management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73CDF1ED-0CD0-9A14-DE6A-32A57B609F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3795" y="2380137"/>
            <a:ext cx="4968421" cy="3411063"/>
          </a:xfrm>
        </p:spPr>
        <p:txBody>
          <a:bodyPr>
            <a:normAutofit/>
          </a:bodyPr>
          <a:lstStyle/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Bug Tracking</a:t>
            </a:r>
          </a:p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Sprint Menu</a:t>
            </a:r>
          </a:p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Planning and Reporting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3EB5E08E-2922-AEDA-11C6-3F5113C256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b="1" dirty="0"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File Sharing and Version Control</a:t>
            </a:r>
          </a:p>
        </p:txBody>
      </p:sp>
      <p:pic>
        <p:nvPicPr>
          <p:cNvPr id="13" name="Tartalom helye 12">
            <a:extLst>
              <a:ext uri="{FF2B5EF4-FFF2-40B4-BE49-F238E27FC236}">
                <a16:creationId xmlns:a16="http://schemas.microsoft.com/office/drawing/2014/main" id="{5A21C73B-637C-6C34-900C-480907ED648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3908710" y="4085668"/>
            <a:ext cx="1703456" cy="16592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A7F2AB3-ACC5-1A60-0193-CD9E60FEF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1912" y="4247953"/>
            <a:ext cx="1496961" cy="1496961"/>
          </a:xfrm>
          <a:prstGeom prst="rect">
            <a:avLst/>
          </a:prstGeom>
        </p:spPr>
      </p:pic>
      <p:pic>
        <p:nvPicPr>
          <p:cNvPr id="1026" name="Picture 2" descr="Github Social Network | Kaggle">
            <a:extLst>
              <a:ext uri="{FF2B5EF4-FFF2-40B4-BE49-F238E27FC236}">
                <a16:creationId xmlns:a16="http://schemas.microsoft.com/office/drawing/2014/main" id="{7601FCDF-582A-1CB6-FA0C-528ACBFEC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7166" y="4253982"/>
            <a:ext cx="1490932" cy="1490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170FADDC-1080-7E1D-2090-88C01E54E0E3}"/>
              </a:ext>
            </a:extLst>
          </p:cNvPr>
          <p:cNvSpPr txBox="1"/>
          <p:nvPr/>
        </p:nvSpPr>
        <p:spPr>
          <a:xfrm>
            <a:off x="6294967" y="2380137"/>
            <a:ext cx="5897033" cy="1456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050" dirty="0"/>
              <a:t>Knowledge Sharing and Documnetation</a:t>
            </a:r>
          </a:p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Permissions Management</a:t>
            </a:r>
          </a:p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Branching </a:t>
            </a:r>
          </a:p>
        </p:txBody>
      </p:sp>
    </p:spTree>
    <p:extLst>
      <p:ext uri="{BB962C8B-B14F-4D97-AF65-F5344CB8AC3E}">
        <p14:creationId xmlns:p14="http://schemas.microsoft.com/office/powerpoint/2010/main" val="365103373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A1B43DE-5028-65E2-8566-203E5D037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Windows and Linux Server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255C10A-648C-596F-ADB6-CD6C0AD54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58343" y="1713399"/>
            <a:ext cx="5064665" cy="3074261"/>
          </a:xfrm>
        </p:spPr>
        <p:txBody>
          <a:bodyPr/>
          <a:lstStyle/>
          <a:p>
            <a:pPr algn="ctr"/>
            <a:r>
              <a:rPr lang="hu-HU" dirty="0"/>
              <a:t>DHCP</a:t>
            </a:r>
          </a:p>
          <a:p>
            <a:pPr algn="ctr"/>
            <a:r>
              <a:rPr lang="hu-HU" dirty="0"/>
              <a:t>DNS</a:t>
            </a:r>
          </a:p>
          <a:p>
            <a:pPr algn="ctr"/>
            <a:r>
              <a:rPr lang="hu-HU" dirty="0"/>
              <a:t>IIS</a:t>
            </a:r>
          </a:p>
          <a:p>
            <a:pPr algn="ctr"/>
            <a:r>
              <a:rPr lang="hu-HU" dirty="0"/>
              <a:t>Active-Directory</a:t>
            </a:r>
          </a:p>
          <a:p>
            <a:pPr algn="ctr"/>
            <a:r>
              <a:rPr lang="hu-HU" dirty="0"/>
              <a:t>Printer Szerver</a:t>
            </a:r>
          </a:p>
          <a:p>
            <a:pPr algn="ctr"/>
            <a:r>
              <a:rPr lang="hu-HU" dirty="0"/>
              <a:t>Backup Szerver</a:t>
            </a:r>
          </a:p>
          <a:p>
            <a:pPr algn="ctr"/>
            <a:r>
              <a:rPr lang="hu-HU" dirty="0"/>
              <a:t>Group Policy Management</a:t>
            </a:r>
          </a:p>
        </p:txBody>
      </p:sp>
      <p:pic>
        <p:nvPicPr>
          <p:cNvPr id="5" name="Picture 2" descr="windows-server-logo">
            <a:extLst>
              <a:ext uri="{FF2B5EF4-FFF2-40B4-BE49-F238E27FC236}">
                <a16:creationId xmlns:a16="http://schemas.microsoft.com/office/drawing/2014/main" id="{17032BB9-DF7E-F7DF-D9AB-87D626984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462" y="4556408"/>
            <a:ext cx="4037162" cy="213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Tartalom helye 16" descr="A képen művészet, kör, Grafika, Színesség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58698F6D-72D8-5BAA-F308-1A4CC58F24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7434" y="4594508"/>
            <a:ext cx="1951570" cy="213475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3468344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817A90-70AB-88FD-8997-FAE17BD06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Other Softwares and Tools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3F8569-CD79-F84A-F95A-B3B5D3C947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96210" y="2235546"/>
            <a:ext cx="9955488" cy="3409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Discord: </a:t>
            </a:r>
            <a:r>
              <a:rPr lang="hu-HU" altLang="hu-HU" sz="2800" dirty="0">
                <a:ln>
                  <a:noFill/>
                </a:ln>
                <a:solidFill>
                  <a:schemeClr val="tx1"/>
                </a:solidFill>
                <a:effectLst/>
              </a:rPr>
              <a:t>Team communication</a:t>
            </a:r>
            <a:endParaRPr kumimoji="0" lang="hu-HU" altLang="hu-HU" sz="280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Google Drive: Document management and storage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OBS Studio: </a:t>
            </a:r>
            <a:r>
              <a:rPr lang="hu-HU" altLang="hu-HU" sz="2800" dirty="0">
                <a:ln>
                  <a:noFill/>
                </a:ln>
                <a:solidFill>
                  <a:schemeClr val="tx1"/>
                </a:solidFill>
                <a:effectLst/>
              </a:rPr>
              <a:t>Recording raw footage</a:t>
            </a:r>
            <a:endParaRPr kumimoji="0" lang="hu-HU" altLang="hu-HU" sz="280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DaVinci Resolve: </a:t>
            </a:r>
            <a:r>
              <a:rPr lang="hu-HU" altLang="hu-HU" sz="2800" dirty="0">
                <a:ln>
                  <a:noFill/>
                </a:ln>
                <a:solidFill>
                  <a:schemeClr val="tx1"/>
                </a:solidFill>
                <a:effectLst/>
              </a:rPr>
              <a:t>Post-production and video editing</a:t>
            </a:r>
            <a:endParaRPr kumimoji="0" lang="hu-HU" altLang="hu-HU" sz="280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884EBEC-911B-91FB-A5F1-36ABE73D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2663" y="1739414"/>
            <a:ext cx="1476688" cy="1476688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9878442B-F701-A822-7B5D-4B954FCCD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2672" y="2161649"/>
            <a:ext cx="2792239" cy="279223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8EE2C5E-3331-3575-CA74-F9363DFEA1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2114" y="3800712"/>
            <a:ext cx="1737786" cy="1737786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AE86E2E1-76D5-1E44-1EC4-0D73A5812C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9900" y="4814388"/>
            <a:ext cx="1737785" cy="173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133176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7AB2B2-57D3-A109-613B-792764AA5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Work Distribution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736794A-A1C3-1C84-3D27-0ADA8C681D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680"/>
          <a:stretch/>
        </p:blipFill>
        <p:spPr>
          <a:xfrm>
            <a:off x="991783" y="1803628"/>
            <a:ext cx="10197786" cy="456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631734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F14126-DC72-2F50-D80B-DDD36B6568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5983" y="2514599"/>
            <a:ext cx="9440034" cy="1828801"/>
          </a:xfrm>
        </p:spPr>
        <p:txBody>
          <a:bodyPr>
            <a:noAutofit/>
          </a:bodyPr>
          <a:lstStyle/>
          <a:p>
            <a:r>
              <a:rPr lang="hu-HU" sz="8000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4284673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la">
  <a:themeElements>
    <a:clrScheme name="Pala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Pal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TM04033929[[fn=Pala]]</Template>
  <TotalTime>375</TotalTime>
  <Words>1345</Words>
  <Application>Microsoft Office PowerPoint</Application>
  <PresentationFormat>Szélesvásznú</PresentationFormat>
  <Paragraphs>143</Paragraphs>
  <Slides>21</Slides>
  <Notes>19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7" baseType="lpstr">
      <vt:lpstr>Aptos</vt:lpstr>
      <vt:lpstr>Bahnschrift SemiBold</vt:lpstr>
      <vt:lpstr>Calisto MT</vt:lpstr>
      <vt:lpstr>Wingdings</vt:lpstr>
      <vt:lpstr>Wingdings 2</vt:lpstr>
      <vt:lpstr>Pala</vt:lpstr>
      <vt:lpstr>Shadowhawk-Fort</vt:lpstr>
      <vt:lpstr>Introduction</vt:lpstr>
      <vt:lpstr>Our Team</vt:lpstr>
      <vt:lpstr>Complete Network Setup</vt:lpstr>
      <vt:lpstr>Education</vt:lpstr>
      <vt:lpstr>Office</vt:lpstr>
      <vt:lpstr>Dispatcher</vt:lpstr>
      <vt:lpstr>Accommodation</vt:lpstr>
      <vt:lpstr>Reception</vt:lpstr>
      <vt:lpstr>Healthcare</vt:lpstr>
      <vt:lpstr>Warehouse</vt:lpstr>
      <vt:lpstr>Hangars</vt:lpstr>
      <vt:lpstr>Admin Room</vt:lpstr>
      <vt:lpstr>Command Center</vt:lpstr>
      <vt:lpstr>ISP</vt:lpstr>
      <vt:lpstr>Testing</vt:lpstr>
      <vt:lpstr>Jira, Scrum &amp; GitHub</vt:lpstr>
      <vt:lpstr>Windows and Linux Server</vt:lpstr>
      <vt:lpstr>Other Softwares and Tools</vt:lpstr>
      <vt:lpstr>Work Distribution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Patrik Grecz</dc:creator>
  <cp:lastModifiedBy>Patrik Grecz</cp:lastModifiedBy>
  <cp:revision>34</cp:revision>
  <dcterms:created xsi:type="dcterms:W3CDTF">2026-01-06T09:33:17Z</dcterms:created>
  <dcterms:modified xsi:type="dcterms:W3CDTF">2026-02-22T18:52:40Z</dcterms:modified>
</cp:coreProperties>
</file>