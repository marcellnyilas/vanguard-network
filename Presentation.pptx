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2" r:id="rId14"/>
    <p:sldId id="261" r:id="rId15"/>
    <p:sldId id="274" r:id="rId16"/>
    <p:sldId id="273" r:id="rId17"/>
    <p:sldId id="271" r:id="rId18"/>
    <p:sldId id="275" r:id="rId19"/>
    <p:sldId id="272" r:id="rId20"/>
    <p:sldId id="25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70282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9574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3890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8497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2877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9652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448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40535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3006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016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15587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8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06131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53003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dirty="0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8203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771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03705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5B39C7-3761-4B48-AAEE-5F77047FB7CA}" type="datetimeFigureOut">
              <a:rPr lang="hu-HU" smtClean="0"/>
              <a:t>2026. 02. 03.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1EC820A-7C3B-46EA-98BF-CCC53CEA49C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08544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47D3E1-6582-7927-7215-16F780075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hu-HU" dirty="0">
                <a:solidFill>
                  <a:schemeClr val="tx1"/>
                </a:solidFill>
              </a:rPr>
              <a:t>Vanguard-Network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62AD4B9-0DC3-159F-A608-C34BBD29A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91705" y="6388370"/>
            <a:ext cx="8962844" cy="435124"/>
          </a:xfrm>
        </p:spPr>
        <p:txBody>
          <a:bodyPr>
            <a:noAutofit/>
          </a:bodyPr>
          <a:lstStyle/>
          <a:p>
            <a:r>
              <a:rPr lang="hu-HU" sz="2400" dirty="0"/>
              <a:t>Created by: Marcell Gergely Nyilas and Patrik Károly Grecz</a:t>
            </a:r>
          </a:p>
        </p:txBody>
      </p:sp>
    </p:spTree>
    <p:extLst>
      <p:ext uri="{BB962C8B-B14F-4D97-AF65-F5344CB8AC3E}">
        <p14:creationId xmlns:p14="http://schemas.microsoft.com/office/powerpoint/2010/main" val="261912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400" dirty="0">
                <a:solidFill>
                  <a:schemeClr val="tx1"/>
                </a:solidFill>
              </a:rPr>
              <a:t>Our Name: Vanguard-Network</a:t>
            </a:r>
          </a:p>
          <a:p>
            <a:r>
              <a:rPr lang="hu-HU" sz="2400" dirty="0">
                <a:solidFill>
                  <a:schemeClr val="tx1"/>
                </a:solidFill>
              </a:rPr>
              <a:t>Company: Shadowhawk fort</a:t>
            </a:r>
          </a:p>
          <a:p>
            <a:r>
              <a:rPr lang="hu-HU" sz="2400" dirty="0">
                <a:solidFill>
                  <a:schemeClr val="tx1"/>
                </a:solidFill>
              </a:rPr>
              <a:t>Field of Expertise: Networks, systems, digital infrastructure</a:t>
            </a:r>
          </a:p>
          <a:p>
            <a:r>
              <a:rPr lang="hu-HU" sz="2400" dirty="0">
                <a:solidFill>
                  <a:schemeClr val="tx1"/>
                </a:solidFill>
              </a:rPr>
              <a:t>Goal: Building stable, secure, and cost-effective networks</a:t>
            </a:r>
            <a:endParaRPr lang="hu-HU" dirty="0"/>
          </a:p>
          <a:p>
            <a:endParaRPr lang="hu-HU" dirty="0"/>
          </a:p>
        </p:txBody>
      </p:sp>
      <p:pic>
        <p:nvPicPr>
          <p:cNvPr id="1026" name="Picture 2" descr="Shadowhawk Torches LED Super Bright, 500000 Lumens Rechargeable LED ...">
            <a:extLst>
              <a:ext uri="{FF2B5EF4-FFF2-40B4-BE49-F238E27FC236}">
                <a16:creationId xmlns:a16="http://schemas.microsoft.com/office/drawing/2014/main" id="{4F626314-7E95-887A-9DDE-209CE3409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1120" y="4494176"/>
            <a:ext cx="3333750" cy="1666875"/>
          </a:xfrm>
          <a:prstGeom prst="rect">
            <a:avLst/>
          </a:prstGeom>
          <a:noFill/>
          <a:effectLst>
            <a:softEdge rad="38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 descr="A képen embléma, Grafika, szimbólum, clipar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7B7CDF07-1723-E4C4-050B-FA13F460C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t="8932" b="8932"/>
          <a:stretch/>
        </p:blipFill>
        <p:spPr>
          <a:xfrm>
            <a:off x="1578634" y="4494175"/>
            <a:ext cx="3042247" cy="1666875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0892156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Our Team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25747"/>
            <a:ext cx="10353762" cy="4058751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tx1"/>
                </a:solidFill>
              </a:rPr>
              <a:t>Marcell Gergely Nyilas (PM)</a:t>
            </a:r>
            <a:endParaRPr lang="hu-HU" sz="2200" dirty="0">
              <a:solidFill>
                <a:schemeClr val="tx1"/>
              </a:solidFill>
            </a:endParaRP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Task tracking, Jira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Network architecture design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Testing</a:t>
            </a:r>
          </a:p>
          <a:p>
            <a:r>
              <a:rPr lang="hu-HU" sz="2400" dirty="0">
                <a:solidFill>
                  <a:schemeClr val="tx1"/>
                </a:solidFill>
              </a:rPr>
              <a:t>Patrik Károly Grecz (PM Support)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Device configuration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Assembling project presentation</a:t>
            </a:r>
          </a:p>
          <a:p>
            <a:pPr lvl="1"/>
            <a:r>
              <a:rPr lang="hu-HU" sz="2200" dirty="0">
                <a:solidFill>
                  <a:schemeClr val="tx1"/>
                </a:solidFill>
              </a:rPr>
              <a:t>Documentation</a:t>
            </a:r>
          </a:p>
          <a:p>
            <a:pPr lvl="1"/>
            <a:endParaRPr lang="hu-HU" sz="2200" dirty="0">
              <a:solidFill>
                <a:schemeClr val="tx1"/>
              </a:solidFill>
            </a:endParaRPr>
          </a:p>
          <a:p>
            <a:pPr lvl="1"/>
            <a:endParaRPr lang="hu-HU" sz="2200" dirty="0">
              <a:solidFill>
                <a:schemeClr val="tx1"/>
              </a:solidFill>
            </a:endParaRPr>
          </a:p>
          <a:p>
            <a:pPr marL="450000" lvl="1" indent="0">
              <a:buNone/>
            </a:pPr>
            <a:endParaRPr lang="hu-HU" sz="2200" dirty="0">
              <a:solidFill>
                <a:schemeClr val="tx1"/>
              </a:solidFill>
            </a:endParaRPr>
          </a:p>
          <a:p>
            <a:endParaRPr lang="hu-H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1543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59434"/>
            <a:ext cx="10353762" cy="970450"/>
          </a:xfrm>
        </p:spPr>
        <p:txBody>
          <a:bodyPr/>
          <a:lstStyle/>
          <a:p>
            <a:pPr algn="ctr"/>
            <a:r>
              <a:rPr lang="hu-HU" dirty="0"/>
              <a:t>Complete Network Setup</a:t>
            </a:r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6A54291B-9791-8EDC-56E8-DD004BCF2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0161" y="1329884"/>
            <a:ext cx="7539487" cy="53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27308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Education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Wi-Fi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2,4 GHz 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5 GHz</a:t>
            </a:r>
          </a:p>
          <a:p>
            <a:r>
              <a:rPr lang="hu-HU" sz="3000" dirty="0">
                <a:solidFill>
                  <a:schemeClr val="tx1"/>
                </a:solidFill>
              </a:rPr>
              <a:t>Dynamic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3E85D75-BD78-766C-9EA7-CA87D9DC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19" y="1691484"/>
            <a:ext cx="5003322" cy="41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50332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Office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7"/>
            <a:ext cx="10353762" cy="4720111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Finance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ACL</a:t>
            </a:r>
          </a:p>
          <a:p>
            <a:r>
              <a:rPr lang="hu-HU" sz="2800" dirty="0">
                <a:solidFill>
                  <a:schemeClr val="tx1"/>
                </a:solidFill>
              </a:rPr>
              <a:t>HR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3000" dirty="0">
                <a:solidFill>
                  <a:schemeClr val="tx1"/>
                </a:solidFill>
              </a:rPr>
              <a:t>Dynamic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8B8DCBF-EB81-CF70-77B7-A6530E19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451" y="1932768"/>
            <a:ext cx="472505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4947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Dispatcher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VPN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4DCF32-252C-96A7-68EE-6F752466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214" y="1942185"/>
            <a:ext cx="4010311" cy="363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5271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Accommodation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33845"/>
          </a:xfrm>
        </p:spPr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Wi-Fi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2,4 GHz</a:t>
            </a:r>
          </a:p>
          <a:p>
            <a:pPr lvl="1"/>
            <a:r>
              <a:rPr lang="hu-HU" sz="2800" dirty="0">
                <a:solidFill>
                  <a:schemeClr val="tx1"/>
                </a:solidFill>
              </a:rPr>
              <a:t>5 GHz</a:t>
            </a:r>
          </a:p>
          <a:p>
            <a:r>
              <a:rPr lang="hu-HU" sz="3000" dirty="0">
                <a:solidFill>
                  <a:schemeClr val="tx1"/>
                </a:solidFill>
              </a:rPr>
              <a:t>Dynamic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994D685-F3DB-8A8E-7013-816740BA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21" y="2012068"/>
            <a:ext cx="4519549" cy="34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232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Reception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DHCP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server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device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45618C3-4318-01DF-B065-2D8F8B40A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774" y="2485893"/>
            <a:ext cx="478221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657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Healthcare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Firewall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DD73C12-E7BF-6A7F-325E-5DA6E10C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271" y="1998665"/>
            <a:ext cx="3993037" cy="352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528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8925" cy="4351338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Static NAT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/ Static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9808EC1-4D52-E203-96EA-75A8F7C8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850" y="1825625"/>
            <a:ext cx="4506557" cy="351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469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733429F-8CA7-3B9E-04F1-FABA49AD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Hangars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BB3668-BA45-3E6B-6746-01BB1EB3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45151" cy="4351338"/>
          </a:xfrm>
        </p:spPr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IPv4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NAT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server</a:t>
            </a:r>
          </a:p>
          <a:p>
            <a:r>
              <a:rPr lang="hu-HU" sz="2800" dirty="0">
                <a:solidFill>
                  <a:schemeClr val="tx1"/>
                </a:solidFill>
              </a:rPr>
              <a:t>IoT devices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/ Static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C324D5F-CE2C-E882-D7A1-743C1629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760" y="2104559"/>
            <a:ext cx="4744033" cy="338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4620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Admin Room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IPv6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routing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22A7A36-FCBB-F503-8A81-A158C1D3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913" y="2386959"/>
            <a:ext cx="4873891" cy="259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2240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DC1072-BBD7-9A9D-A23A-53B6DB98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Command Center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81372B-CC2A-6DB9-0AFE-01E2B7E7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hu-HU" sz="2800" dirty="0">
                <a:solidFill>
                  <a:schemeClr val="tx1"/>
                </a:solidFill>
              </a:rPr>
              <a:t>IPv6</a:t>
            </a:r>
          </a:p>
          <a:p>
            <a:r>
              <a:rPr lang="hu-HU" sz="2800" dirty="0">
                <a:solidFill>
                  <a:schemeClr val="tx1"/>
                </a:solidFill>
              </a:rPr>
              <a:t>VLAN</a:t>
            </a:r>
          </a:p>
          <a:p>
            <a:r>
              <a:rPr lang="hu-HU" sz="2800" dirty="0">
                <a:solidFill>
                  <a:schemeClr val="tx1"/>
                </a:solidFill>
              </a:rPr>
              <a:t>Dynamic routing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6BCE332-5837-D730-E67E-DA44C5DA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265" y="2445176"/>
            <a:ext cx="4582721" cy="263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5050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51D5E0-7F3E-F64F-C53E-2298C0B1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ISP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A9E23B-BD7B-2EFB-7E01-EFFF31FA9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487005" cy="4058751"/>
          </a:xfrm>
        </p:spPr>
        <p:txBody>
          <a:bodyPr anchor="ctr"/>
          <a:lstStyle/>
          <a:p>
            <a:r>
              <a:rPr lang="hu-HU" sz="2800" dirty="0"/>
              <a:t>IPv4</a:t>
            </a:r>
          </a:p>
          <a:p>
            <a:r>
              <a:rPr lang="hu-HU" sz="2800" dirty="0"/>
              <a:t>Static routing</a:t>
            </a:r>
          </a:p>
          <a:p>
            <a:r>
              <a:rPr lang="hu-HU" sz="2800" dirty="0"/>
              <a:t>NAT</a:t>
            </a:r>
          </a:p>
          <a:p>
            <a:endParaRPr lang="hu-HU" dirty="0"/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F8AC661E-F5A4-530D-926F-33218E0AF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453" y="2549914"/>
            <a:ext cx="5074425" cy="260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7679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C7A5AB-43A0-EC8E-7161-0CCEC6666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2" y="207033"/>
            <a:ext cx="10353762" cy="970450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Testing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A298645-273E-8E18-FD22-4043687B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23" y="1501313"/>
            <a:ext cx="11267554" cy="472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8704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99D836-7FE9-FF64-9969-F039DCFE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  <a:effectLst/>
              </a:rPr>
              <a:t>Jira, Scrum &amp; GitHub</a:t>
            </a:r>
          </a:p>
        </p:txBody>
      </p:sp>
      <p:sp>
        <p:nvSpPr>
          <p:cNvPr id="6" name="Szöveg helye 5">
            <a:extLst>
              <a:ext uri="{FF2B5EF4-FFF2-40B4-BE49-F238E27FC236}">
                <a16:creationId xmlns:a16="http://schemas.microsoft.com/office/drawing/2014/main" id="{CC9E38D2-9DD0-9397-5A1B-02275C3D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Task and Project Management</a:t>
            </a:r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73CDF1ED-0CD0-9A14-DE6A-32A57B609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3795" y="2380137"/>
            <a:ext cx="4968421" cy="3411063"/>
          </a:xfrm>
        </p:spPr>
        <p:txBody>
          <a:bodyPr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Bug Tracking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Sprint Menu</a:t>
            </a:r>
          </a:p>
          <a:p>
            <a:pPr>
              <a:buSzPct val="100000"/>
              <a:buFont typeface="Wingdings" panose="05000000000000000000" pitchFamily="2" charset="2"/>
              <a:buChar char="v"/>
            </a:pPr>
            <a:r>
              <a:rPr lang="hu-HU" sz="2400" dirty="0">
                <a:solidFill>
                  <a:schemeClr val="tx1"/>
                </a:solidFill>
                <a:effectLst/>
              </a:rPr>
              <a:t>Planning and Reporting</a:t>
            </a:r>
          </a:p>
        </p:txBody>
      </p:sp>
      <p:sp>
        <p:nvSpPr>
          <p:cNvPr id="8" name="Szöveg helye 7">
            <a:extLst>
              <a:ext uri="{FF2B5EF4-FFF2-40B4-BE49-F238E27FC236}">
                <a16:creationId xmlns:a16="http://schemas.microsoft.com/office/drawing/2014/main" id="{3EB5E08E-2922-AEDA-11C6-3F5113C25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chemeClr val="tx1"/>
                </a:solidFill>
                <a:effectLst/>
                <a:latin typeface="Bahnschrift SemiBold" panose="020B0502040204020203" pitchFamily="34" charset="0"/>
              </a:rPr>
              <a:t>File Sharing and Version Control</a:t>
            </a:r>
          </a:p>
        </p:txBody>
      </p:sp>
      <p:pic>
        <p:nvPicPr>
          <p:cNvPr id="13" name="Tartalom helye 12">
            <a:extLst>
              <a:ext uri="{FF2B5EF4-FFF2-40B4-BE49-F238E27FC236}">
                <a16:creationId xmlns:a16="http://schemas.microsoft.com/office/drawing/2014/main" id="{5A21C73B-637C-6C34-900C-480907ED648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908710" y="4085668"/>
            <a:ext cx="1703456" cy="165924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A7F2AB3-ACC5-1A60-0193-CD9E60FEF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912" y="4247953"/>
            <a:ext cx="1496961" cy="1496961"/>
          </a:xfrm>
          <a:prstGeom prst="rect">
            <a:avLst/>
          </a:prstGeom>
        </p:spPr>
      </p:pic>
      <p:pic>
        <p:nvPicPr>
          <p:cNvPr id="1026" name="Picture 2" descr="Github Social Network | Kaggle">
            <a:extLst>
              <a:ext uri="{FF2B5EF4-FFF2-40B4-BE49-F238E27FC236}">
                <a16:creationId xmlns:a16="http://schemas.microsoft.com/office/drawing/2014/main" id="{7601FCDF-582A-1CB6-FA0C-528ACBFE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166" y="4253982"/>
            <a:ext cx="1490932" cy="149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170FADDC-1080-7E1D-2090-88C01E54E0E3}"/>
              </a:ext>
            </a:extLst>
          </p:cNvPr>
          <p:cNvSpPr txBox="1"/>
          <p:nvPr/>
        </p:nvSpPr>
        <p:spPr>
          <a:xfrm>
            <a:off x="6294967" y="2380137"/>
            <a:ext cx="5897033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050" dirty="0"/>
              <a:t>Knowledge Sharing and Documnetation</a:t>
            </a:r>
          </a:p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400" dirty="0"/>
              <a:t>Permissions Management</a:t>
            </a:r>
          </a:p>
          <a:p>
            <a:pPr marL="342000" indent="-306000">
              <a:spcBef>
                <a:spcPts val="432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hu-HU" sz="2400" dirty="0"/>
              <a:t>Branching </a:t>
            </a:r>
          </a:p>
        </p:txBody>
      </p:sp>
    </p:spTree>
    <p:extLst>
      <p:ext uri="{BB962C8B-B14F-4D97-AF65-F5344CB8AC3E}">
        <p14:creationId xmlns:p14="http://schemas.microsoft.com/office/powerpoint/2010/main" val="365103373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817A90-70AB-88FD-8997-FAE17BD0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Other Softwares and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F8569-CD79-F84A-F95A-B3B5D3C947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6210" y="2235546"/>
            <a:ext cx="9955488" cy="3409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Discord: </a:t>
            </a:r>
            <a:r>
              <a:rPr lang="hu-HU" altLang="hu-HU" sz="2800" dirty="0">
                <a:ln>
                  <a:noFill/>
                </a:ln>
                <a:solidFill>
                  <a:schemeClr val="tx1"/>
                </a:solidFill>
                <a:effectLst/>
              </a:rPr>
              <a:t>Team communication</a:t>
            </a:r>
            <a:endParaRPr kumimoji="0" lang="hu-HU" altLang="hu-HU" sz="2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 Drive: Document management and storage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 Studio: </a:t>
            </a:r>
            <a:r>
              <a:rPr lang="hu-HU" altLang="hu-HU" sz="2800" dirty="0">
                <a:ln>
                  <a:noFill/>
                </a:ln>
                <a:solidFill>
                  <a:schemeClr val="tx1"/>
                </a:solidFill>
                <a:effectLst/>
              </a:rPr>
              <a:t>Recording raw footage</a:t>
            </a:r>
            <a:endParaRPr kumimoji="0" lang="hu-HU" altLang="hu-HU" sz="2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DaVinci Resolve: </a:t>
            </a:r>
            <a:r>
              <a:rPr lang="hu-HU" altLang="hu-HU" sz="2800" dirty="0">
                <a:ln>
                  <a:noFill/>
                </a:ln>
                <a:solidFill>
                  <a:schemeClr val="tx1"/>
                </a:solidFill>
                <a:effectLst/>
              </a:rPr>
              <a:t>Post-production and video editing</a:t>
            </a:r>
            <a:endParaRPr kumimoji="0" lang="hu-HU" altLang="hu-HU" sz="28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884EBEC-911B-91FB-A5F1-36ABE73D8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663" y="1739414"/>
            <a:ext cx="1476688" cy="147668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878442B-F701-A822-7B5D-4B954FCCD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672" y="2161649"/>
            <a:ext cx="2792239" cy="2792239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8EE2C5E-3331-3575-CA74-F9363DFEA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114" y="3800712"/>
            <a:ext cx="1737786" cy="1737786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AE86E2E1-76D5-1E44-1EC4-0D73A5812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9900" y="4814388"/>
            <a:ext cx="1737785" cy="17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3317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7AB2B2-57D3-A109-613B-792764AA5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Work Distribution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736794A-A1C3-1C84-3D27-0ADA8C681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0"/>
          <a:stretch/>
        </p:blipFill>
        <p:spPr>
          <a:xfrm>
            <a:off x="991783" y="1803628"/>
            <a:ext cx="10197786" cy="45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3173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F14126-DC72-2F50-D80B-DDD36B656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514599"/>
            <a:ext cx="9440034" cy="1828801"/>
          </a:xfrm>
        </p:spPr>
        <p:txBody>
          <a:bodyPr>
            <a:noAutofit/>
          </a:bodyPr>
          <a:lstStyle/>
          <a:p>
            <a:r>
              <a:rPr lang="hu-HU" sz="8000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428467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Pal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al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TM04033929[[fn=Pala]]</Template>
  <TotalTime>254</TotalTime>
  <Words>222</Words>
  <Application>Microsoft Office PowerPoint</Application>
  <PresentationFormat>Szélesvásznú</PresentationFormat>
  <Paragraphs>94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5" baseType="lpstr">
      <vt:lpstr>Bahnschrift SemiBold</vt:lpstr>
      <vt:lpstr>Calisto MT</vt:lpstr>
      <vt:lpstr>Wingdings</vt:lpstr>
      <vt:lpstr>Wingdings 2</vt:lpstr>
      <vt:lpstr>Pala</vt:lpstr>
      <vt:lpstr>Vanguard-Network</vt:lpstr>
      <vt:lpstr>Introduction</vt:lpstr>
      <vt:lpstr>Our Team</vt:lpstr>
      <vt:lpstr>Complete Network Setup</vt:lpstr>
      <vt:lpstr>Education</vt:lpstr>
      <vt:lpstr>Office</vt:lpstr>
      <vt:lpstr>Dispatcher</vt:lpstr>
      <vt:lpstr>Accommodation</vt:lpstr>
      <vt:lpstr>Reception</vt:lpstr>
      <vt:lpstr>Healthcare</vt:lpstr>
      <vt:lpstr>Warehouse</vt:lpstr>
      <vt:lpstr>Hangars</vt:lpstr>
      <vt:lpstr>Admin Room</vt:lpstr>
      <vt:lpstr>Command Center</vt:lpstr>
      <vt:lpstr>ISP</vt:lpstr>
      <vt:lpstr>Testing</vt:lpstr>
      <vt:lpstr>Jira, Scrum &amp; GitHub</vt:lpstr>
      <vt:lpstr>Other Softwares and Tools</vt:lpstr>
      <vt:lpstr>Work Distribution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Grecz</dc:creator>
  <cp:lastModifiedBy>Patrik Grecz</cp:lastModifiedBy>
  <cp:revision>26</cp:revision>
  <dcterms:created xsi:type="dcterms:W3CDTF">2026-01-06T09:33:17Z</dcterms:created>
  <dcterms:modified xsi:type="dcterms:W3CDTF">2026-02-03T10:21:14Z</dcterms:modified>
</cp:coreProperties>
</file>