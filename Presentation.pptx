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6" r:id="rId2"/>
    <p:sldId id="258" r:id="rId3"/>
    <p:sldId id="259" r:id="rId4"/>
    <p:sldId id="260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62" r:id="rId14"/>
    <p:sldId id="261" r:id="rId15"/>
    <p:sldId id="274" r:id="rId16"/>
    <p:sldId id="273" r:id="rId17"/>
    <p:sldId id="271" r:id="rId18"/>
    <p:sldId id="276" r:id="rId19"/>
    <p:sldId id="275" r:id="rId20"/>
    <p:sldId id="272" r:id="rId21"/>
    <p:sldId id="257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0998" autoAdjust="0"/>
  </p:normalViewPr>
  <p:slideViewPr>
    <p:cSldViewPr snapToGrid="0">
      <p:cViewPr varScale="1">
        <p:scale>
          <a:sx n="74" d="100"/>
          <a:sy n="74" d="100"/>
        </p:scale>
        <p:origin x="3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15170A-2158-4A8A-8DC6-5F66235307F3}" type="datetimeFigureOut">
              <a:rPr lang="hu-HU" smtClean="0"/>
              <a:t>2026. 02. 17.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C8DE43-8A86-4C0A-AAE9-F0A77234DDB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32734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1-2 MARCI</a:t>
            </a:r>
            <a:br>
              <a:rPr lang="hu-HU" dirty="0"/>
            </a:br>
            <a:r>
              <a:rPr lang="hu-HU" dirty="0"/>
              <a:t>3-4 PATRIK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41195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1-MARCI</a:t>
            </a:r>
            <a:br>
              <a:rPr lang="hu-HU" dirty="0"/>
            </a:br>
            <a:r>
              <a:rPr lang="hu-HU" dirty="0"/>
              <a:t>2-PATRIK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05360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Mixed </a:t>
            </a:r>
            <a:r>
              <a:rPr lang="hu-HU" dirty="0" err="1"/>
              <a:t>topology</a:t>
            </a:r>
            <a:r>
              <a:rPr lang="hu-HU" dirty="0"/>
              <a:t>, </a:t>
            </a:r>
            <a:r>
              <a:rPr lang="hu-HU" dirty="0" err="1"/>
              <a:t>star</a:t>
            </a:r>
            <a:r>
              <a:rPr lang="hu-HU" dirty="0"/>
              <a:t> and ring </a:t>
            </a:r>
            <a:r>
              <a:rPr lang="hu-HU" dirty="0" err="1"/>
              <a:t>topology</a:t>
            </a:r>
            <a:r>
              <a:rPr lang="hu-HU" dirty="0"/>
              <a:t> and </a:t>
            </a:r>
            <a:r>
              <a:rPr lang="hu-HU" dirty="0" err="1"/>
              <a:t>switch</a:t>
            </a:r>
            <a:r>
              <a:rPr lang="hu-HU" dirty="0"/>
              <a:t> </a:t>
            </a:r>
            <a:r>
              <a:rPr lang="hu-HU" dirty="0" err="1"/>
              <a:t>stacking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18793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PATRIK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55066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MARCI</a:t>
            </a:r>
            <a:br>
              <a:rPr lang="hu-HU" dirty="0"/>
            </a:br>
            <a:r>
              <a:rPr lang="en-US" dirty="0"/>
              <a:t>ACLs block unauthorized outbound traffic from the Finance VLAN.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679370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PATRIK</a:t>
            </a:r>
            <a:br>
              <a:rPr lang="hu-HU" dirty="0"/>
            </a:br>
            <a:r>
              <a:rPr lang="en-US" dirty="0"/>
              <a:t>Secure tunnel between the Dispatcher and the Central Router.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76042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MARCI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238883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PATRIK</a:t>
            </a:r>
            <a:br>
              <a:rPr lang="hu-HU" dirty="0"/>
            </a:br>
            <a:r>
              <a:rPr lang="en-US" dirty="0"/>
              <a:t>All IoT devices are registered to and monitored by a dedicated IoT Server.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912777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PATRIK</a:t>
            </a:r>
          </a:p>
          <a:p>
            <a:r>
              <a:rPr lang="en-US" dirty="0"/>
              <a:t>Internal users can access the Internet, but external access to the medical network is blocked.</a:t>
            </a:r>
          </a:p>
          <a:p>
            <a:r>
              <a:rPr lang="en-US" dirty="0"/>
              <a:t>Higher security level (Inside/Medical) vs. lower security level</a:t>
            </a:r>
            <a:endParaRPr lang="hu-HU" dirty="0"/>
          </a:p>
          <a:p>
            <a:r>
              <a:rPr lang="en-US" dirty="0"/>
              <a:t>The firewall tracks outgoing requests and only permits the corresponding return traffic.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730593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b="1" dirty="0"/>
              <a:t>MARCI</a:t>
            </a:r>
          </a:p>
          <a:p>
            <a:r>
              <a:rPr lang="en-US" b="1" dirty="0"/>
              <a:t>Static NAT (One-to-One)</a:t>
            </a:r>
            <a:r>
              <a:rPr lang="en-US" dirty="0"/>
              <a:t>: Maps a private internal IP address to a public external IP address.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280750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MARCI</a:t>
            </a:r>
            <a:br>
              <a:rPr lang="hu-HU" dirty="0"/>
            </a:br>
            <a:r>
              <a:rPr lang="en-US" dirty="0"/>
              <a:t>Many-to-one address translation for internal hosts.</a:t>
            </a:r>
          </a:p>
          <a:p>
            <a:r>
              <a:rPr lang="en-US" dirty="0"/>
              <a:t>Multiple private IPs share a single public IP address.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84260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PATRIK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78594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MARCI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25485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PATRIK</a:t>
            </a:r>
          </a:p>
          <a:p>
            <a:r>
              <a:rPr lang="en-US" dirty="0"/>
              <a:t>This segment represents the Internet Service Provider's network.</a:t>
            </a:r>
          </a:p>
          <a:p>
            <a:r>
              <a:rPr lang="en-US" dirty="0"/>
              <a:t>Used to provide a fixed path for traffic between the internal network and the ISP server.</a:t>
            </a:r>
          </a:p>
          <a:p>
            <a:r>
              <a:rPr lang="en-US" dirty="0"/>
              <a:t>Hosts the public ISP Server, providing external DNS and Web services.</a:t>
            </a:r>
          </a:p>
          <a:p>
            <a:r>
              <a:rPr lang="en-US" dirty="0"/>
              <a:t>The point where internal private addresses are translated to public routable addresses.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3016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MARCI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949142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MARCI</a:t>
            </a:r>
          </a:p>
          <a:p>
            <a:r>
              <a:rPr lang="hu-HU" dirty="0"/>
              <a:t>PATRIK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494393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1-2 MARCI</a:t>
            </a:r>
          </a:p>
          <a:p>
            <a:r>
              <a:rPr lang="hu-HU" dirty="0"/>
              <a:t>3-4 PATRIK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29486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PATRIK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770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70282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195743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38908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84979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28778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9652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744869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640535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30066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01619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155876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31826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6061311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30036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82032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71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03705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D25B39C7-3761-4B48-AAEE-5F77047FB7CA}" type="datetimeFigureOut">
              <a:rPr lang="hu-HU" smtClean="0"/>
              <a:t>2026. 02. 17.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0854400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247D3E1-6582-7927-7215-16F780075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41400"/>
            <a:ext cx="9144000" cy="23876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Vanguard-Network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62AD4B9-0DC3-159F-A608-C34BBD29AC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491705" y="6388370"/>
            <a:ext cx="8962844" cy="435124"/>
          </a:xfrm>
        </p:spPr>
        <p:txBody>
          <a:bodyPr>
            <a:noAutofit/>
          </a:bodyPr>
          <a:lstStyle/>
          <a:p>
            <a:r>
              <a:rPr lang="hu-HU" sz="2400" dirty="0"/>
              <a:t>Created by: Marcell Gergely Nyilas and Patrik Károly Grecz</a:t>
            </a:r>
          </a:p>
        </p:txBody>
      </p:sp>
    </p:spTree>
    <p:extLst>
      <p:ext uri="{BB962C8B-B14F-4D97-AF65-F5344CB8AC3E}">
        <p14:creationId xmlns:p14="http://schemas.microsoft.com/office/powerpoint/2010/main" val="2619129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Introduction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2400" dirty="0">
                <a:solidFill>
                  <a:schemeClr val="tx1"/>
                </a:solidFill>
              </a:rPr>
              <a:t>Our Name: Vanguard-Network</a:t>
            </a:r>
          </a:p>
          <a:p>
            <a:r>
              <a:rPr lang="hu-HU" sz="2400" dirty="0">
                <a:solidFill>
                  <a:schemeClr val="tx1"/>
                </a:solidFill>
              </a:rPr>
              <a:t>Company: Shadowhawk fort</a:t>
            </a:r>
          </a:p>
          <a:p>
            <a:r>
              <a:rPr lang="hu-HU" sz="2400" dirty="0">
                <a:solidFill>
                  <a:schemeClr val="tx1"/>
                </a:solidFill>
              </a:rPr>
              <a:t>Field of Expertise: Networks, systems, digital infrastructure</a:t>
            </a:r>
          </a:p>
          <a:p>
            <a:r>
              <a:rPr lang="hu-HU" sz="2400" dirty="0">
                <a:solidFill>
                  <a:schemeClr val="tx1"/>
                </a:solidFill>
              </a:rPr>
              <a:t>Goal: Building stable, secure, and cost-effective networks</a:t>
            </a:r>
            <a:endParaRPr lang="hu-HU" dirty="0"/>
          </a:p>
          <a:p>
            <a:endParaRPr lang="hu-HU" dirty="0"/>
          </a:p>
        </p:txBody>
      </p:sp>
      <p:pic>
        <p:nvPicPr>
          <p:cNvPr id="1026" name="Picture 2" descr="Shadowhawk Torches LED Super Bright, 500000 Lumens Rechargeable LED ...">
            <a:extLst>
              <a:ext uri="{FF2B5EF4-FFF2-40B4-BE49-F238E27FC236}">
                <a16:creationId xmlns:a16="http://schemas.microsoft.com/office/drawing/2014/main" id="{4F626314-7E95-887A-9DDE-209CE3409A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1120" y="4494176"/>
            <a:ext cx="3333750" cy="1666875"/>
          </a:xfrm>
          <a:prstGeom prst="rect">
            <a:avLst/>
          </a:prstGeom>
          <a:noFill/>
          <a:effectLst>
            <a:softEdge rad="381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 descr="A képen embléma, Grafika, szimbólum, clipart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7B7CDF07-1723-E4C4-050B-FA13F460CF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" t="8932" b="8932"/>
          <a:stretch/>
        </p:blipFill>
        <p:spPr>
          <a:xfrm>
            <a:off x="1578634" y="4494175"/>
            <a:ext cx="3042247" cy="1666875"/>
          </a:xfrm>
          <a:prstGeom prst="rect">
            <a:avLst/>
          </a:prstGeom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308921567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Our Team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25747"/>
            <a:ext cx="10353762" cy="4058751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/>
                </a:solidFill>
              </a:rPr>
              <a:t>Marcell Gergely Nyilas (PM)</a:t>
            </a:r>
            <a:endParaRPr lang="hu-HU" sz="2200" dirty="0">
              <a:solidFill>
                <a:schemeClr val="tx1"/>
              </a:solidFill>
            </a:endParaRP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Task tracking, Jira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Network architecture design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Testing</a:t>
            </a:r>
          </a:p>
          <a:p>
            <a:r>
              <a:rPr lang="hu-HU" sz="2400" dirty="0">
                <a:solidFill>
                  <a:schemeClr val="tx1"/>
                </a:solidFill>
              </a:rPr>
              <a:t>Patrik Károly Grecz (PM Support)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Device configuration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Assembling project presentation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Documentation</a:t>
            </a:r>
          </a:p>
          <a:p>
            <a:pPr lvl="1"/>
            <a:endParaRPr lang="hu-HU" sz="2200" dirty="0">
              <a:solidFill>
                <a:schemeClr val="tx1"/>
              </a:solidFill>
            </a:endParaRPr>
          </a:p>
          <a:p>
            <a:pPr lvl="1"/>
            <a:endParaRPr lang="hu-HU" sz="2200" dirty="0">
              <a:solidFill>
                <a:schemeClr val="tx1"/>
              </a:solidFill>
            </a:endParaRPr>
          </a:p>
          <a:p>
            <a:pPr marL="450000" lvl="1" indent="0">
              <a:buNone/>
            </a:pPr>
            <a:endParaRPr lang="hu-HU" sz="2200" dirty="0">
              <a:solidFill>
                <a:schemeClr val="tx1"/>
              </a:solidFill>
            </a:endParaRPr>
          </a:p>
          <a:p>
            <a:endParaRPr lang="hu-HU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915439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359434"/>
            <a:ext cx="10353762" cy="970450"/>
          </a:xfrm>
        </p:spPr>
        <p:txBody>
          <a:bodyPr/>
          <a:lstStyle/>
          <a:p>
            <a:pPr algn="ctr"/>
            <a:r>
              <a:rPr lang="hu-HU" dirty="0"/>
              <a:t>Complete Network Setup</a:t>
            </a:r>
          </a:p>
        </p:txBody>
      </p:sp>
      <p:pic>
        <p:nvPicPr>
          <p:cNvPr id="5" name="drawing">
            <a:extLst>
              <a:ext uri="{FF2B5EF4-FFF2-40B4-BE49-F238E27FC236}">
                <a16:creationId xmlns:a16="http://schemas.microsoft.com/office/drawing/2014/main" id="{6A54291B-9791-8EDC-56E8-DD004BCF2E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00161" y="1329884"/>
            <a:ext cx="7539487" cy="536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273086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Education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VLAN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DHCP</a:t>
            </a:r>
          </a:p>
          <a:p>
            <a:r>
              <a:rPr lang="hu-HU" sz="2800" dirty="0">
                <a:solidFill>
                  <a:schemeClr val="tx1"/>
                </a:solidFill>
              </a:rPr>
              <a:t>Wi-Fi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2,4 GHz 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5 GHz</a:t>
            </a:r>
          </a:p>
          <a:p>
            <a:r>
              <a:rPr lang="hu-HU" sz="3000" dirty="0">
                <a:solidFill>
                  <a:schemeClr val="tx1"/>
                </a:solidFill>
              </a:rPr>
              <a:t>Dynamic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E3E85D75-BD78-766C-9EA7-CA87D9DC2B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219" y="1691484"/>
            <a:ext cx="5003322" cy="414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503321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Office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7"/>
            <a:ext cx="10353762" cy="4720111"/>
          </a:xfrm>
        </p:spPr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Finance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ACL</a:t>
            </a:r>
          </a:p>
          <a:p>
            <a:r>
              <a:rPr lang="hu-HU" sz="2800" dirty="0">
                <a:solidFill>
                  <a:schemeClr val="tx1"/>
                </a:solidFill>
              </a:rPr>
              <a:t>HR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3000" dirty="0">
                <a:solidFill>
                  <a:schemeClr val="tx1"/>
                </a:solidFill>
              </a:rPr>
              <a:t>Dynamic routing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8B8DCBF-EB81-CF70-77B7-A6530E19F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451" y="1932768"/>
            <a:ext cx="4725059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349470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Dispatcher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VPN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routing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E4DCF32-252C-96A7-68EE-6F75246667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214" y="1942185"/>
            <a:ext cx="4010311" cy="363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52718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Accommodation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633845"/>
          </a:xfrm>
        </p:spPr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DHCP</a:t>
            </a:r>
          </a:p>
          <a:p>
            <a:r>
              <a:rPr lang="hu-HU" sz="2800" dirty="0">
                <a:solidFill>
                  <a:schemeClr val="tx1"/>
                </a:solidFill>
              </a:rPr>
              <a:t>Wi-Fi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2,4 GHz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5 GHz</a:t>
            </a:r>
          </a:p>
          <a:p>
            <a:r>
              <a:rPr lang="hu-HU" sz="3000" dirty="0">
                <a:solidFill>
                  <a:schemeClr val="tx1"/>
                </a:solidFill>
              </a:rPr>
              <a:t>Dynamic routing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994D685-F3DB-8A8E-7013-816740BAFA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221" y="2012068"/>
            <a:ext cx="4519549" cy="349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62326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Reception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DHCP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server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device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routing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45618C3-4318-01DF-B065-2D8F8B40A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774" y="2485893"/>
            <a:ext cx="4782217" cy="188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06573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733429F-8CA7-3B9E-04F1-FABA49AD4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Healthcare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BB3668-BA45-3E6B-6746-01BB1EB397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Firewall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routing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BDD73C12-E7BF-6A7F-325E-5DA6E10C8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0271" y="1998665"/>
            <a:ext cx="3993037" cy="3526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125282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733429F-8CA7-3B9E-04F1-FABA49AD4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Warehouse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BB3668-BA45-3E6B-6746-01BB1EB39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78925" cy="4351338"/>
          </a:xfrm>
        </p:spPr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Static NAT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/ Static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39808EC1-4D52-E203-96EA-75A8F7C88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850" y="1825625"/>
            <a:ext cx="4506557" cy="3515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64697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733429F-8CA7-3B9E-04F1-FABA49AD4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Hangars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BB3668-BA45-3E6B-6746-01BB1EB39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45151" cy="4351338"/>
          </a:xfrm>
        </p:spPr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NAT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server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devices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/ Static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C324D5F-CE2C-E882-D7A1-743C1629CA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760" y="2104559"/>
            <a:ext cx="4744033" cy="3381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46209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Admin Room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IPv6</a:t>
            </a:r>
          </a:p>
          <a:p>
            <a:r>
              <a:rPr lang="hu-HU" sz="2800" dirty="0">
                <a:solidFill>
                  <a:schemeClr val="tx1"/>
                </a:solidFill>
              </a:rPr>
              <a:t>VLAN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B22A7A36-FCBB-F503-8A81-A158C1D33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913" y="2386959"/>
            <a:ext cx="4873891" cy="2590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022404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Command Center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IPv6</a:t>
            </a:r>
          </a:p>
          <a:p>
            <a:r>
              <a:rPr lang="hu-HU" sz="2800" dirty="0">
                <a:solidFill>
                  <a:schemeClr val="tx1"/>
                </a:solidFill>
              </a:rPr>
              <a:t>VLAN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routing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6BCE332-5837-D730-E67E-DA44C5DAD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265" y="2445176"/>
            <a:ext cx="4582721" cy="263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750508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51D5E0-7F3E-F64F-C53E-2298C0B14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ISP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3A9E23B-BD7B-2EFB-7E01-EFFF31FA9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5487005" cy="4058751"/>
          </a:xfrm>
        </p:spPr>
        <p:txBody>
          <a:bodyPr anchor="ctr"/>
          <a:lstStyle/>
          <a:p>
            <a:r>
              <a:rPr lang="hu-HU" sz="2800" dirty="0"/>
              <a:t>IPv4</a:t>
            </a:r>
          </a:p>
          <a:p>
            <a:r>
              <a:rPr lang="hu-HU" sz="2800" dirty="0"/>
              <a:t>Static routing</a:t>
            </a:r>
          </a:p>
          <a:p>
            <a:r>
              <a:rPr lang="hu-HU" sz="2800" dirty="0"/>
              <a:t>NAT</a:t>
            </a:r>
          </a:p>
          <a:p>
            <a:endParaRPr lang="hu-HU" dirty="0"/>
          </a:p>
        </p:txBody>
      </p:sp>
      <p:pic>
        <p:nvPicPr>
          <p:cNvPr id="4" name="drawing">
            <a:extLst>
              <a:ext uri="{FF2B5EF4-FFF2-40B4-BE49-F238E27FC236}">
                <a16:creationId xmlns:a16="http://schemas.microsoft.com/office/drawing/2014/main" id="{F8AC661E-F5A4-530D-926F-33218E0AF5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9453" y="2549914"/>
            <a:ext cx="5074425" cy="260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07679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C7A5AB-43A0-EC8E-7161-0CCEC6666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2" y="207033"/>
            <a:ext cx="10353762" cy="970450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Testing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A298645-273E-8E18-FD22-4043687B05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23" y="1501313"/>
            <a:ext cx="11267554" cy="4727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287049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99D836-7FE9-FF64-9969-F039DCFEB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  <a:effectLst/>
              </a:rPr>
              <a:t>Jira, Scrum &amp; GitHub</a:t>
            </a:r>
          </a:p>
        </p:txBody>
      </p:sp>
      <p:sp>
        <p:nvSpPr>
          <p:cNvPr id="6" name="Szöveg helye 5">
            <a:extLst>
              <a:ext uri="{FF2B5EF4-FFF2-40B4-BE49-F238E27FC236}">
                <a16:creationId xmlns:a16="http://schemas.microsoft.com/office/drawing/2014/main" id="{CC9E38D2-9DD0-9397-5A1B-02275C3DF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b="1" dirty="0">
                <a:solidFill>
                  <a:schemeClr val="tx1"/>
                </a:solidFill>
                <a:effectLst/>
                <a:latin typeface="Bahnschrift SemiBold" panose="020B0502040204020203" pitchFamily="34" charset="0"/>
              </a:rPr>
              <a:t>Task and Project Management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73CDF1ED-0CD0-9A14-DE6A-32A57B609F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3795" y="2380137"/>
            <a:ext cx="4968421" cy="3411063"/>
          </a:xfrm>
        </p:spPr>
        <p:txBody>
          <a:bodyPr>
            <a:normAutofit/>
          </a:bodyPr>
          <a:lstStyle/>
          <a:p>
            <a:pPr>
              <a:buSzPct val="100000"/>
              <a:buFont typeface="Wingdings" panose="05000000000000000000" pitchFamily="2" charset="2"/>
              <a:buChar char="v"/>
            </a:pPr>
            <a:r>
              <a:rPr lang="hu-HU" sz="2400" dirty="0">
                <a:solidFill>
                  <a:schemeClr val="tx1"/>
                </a:solidFill>
                <a:effectLst/>
              </a:rPr>
              <a:t>Bug Tracking</a:t>
            </a:r>
          </a:p>
          <a:p>
            <a:pPr>
              <a:buSzPct val="100000"/>
              <a:buFont typeface="Wingdings" panose="05000000000000000000" pitchFamily="2" charset="2"/>
              <a:buChar char="v"/>
            </a:pPr>
            <a:r>
              <a:rPr lang="hu-HU" sz="2400" dirty="0">
                <a:solidFill>
                  <a:schemeClr val="tx1"/>
                </a:solidFill>
                <a:effectLst/>
              </a:rPr>
              <a:t>Sprint Menu</a:t>
            </a:r>
          </a:p>
          <a:p>
            <a:pPr>
              <a:buSzPct val="100000"/>
              <a:buFont typeface="Wingdings" panose="05000000000000000000" pitchFamily="2" charset="2"/>
              <a:buChar char="v"/>
            </a:pPr>
            <a:r>
              <a:rPr lang="hu-HU" sz="2400" dirty="0">
                <a:solidFill>
                  <a:schemeClr val="tx1"/>
                </a:solidFill>
                <a:effectLst/>
              </a:rPr>
              <a:t>Planning and Reporting</a:t>
            </a:r>
          </a:p>
        </p:txBody>
      </p:sp>
      <p:sp>
        <p:nvSpPr>
          <p:cNvPr id="8" name="Szöveg helye 7">
            <a:extLst>
              <a:ext uri="{FF2B5EF4-FFF2-40B4-BE49-F238E27FC236}">
                <a16:creationId xmlns:a16="http://schemas.microsoft.com/office/drawing/2014/main" id="{3EB5E08E-2922-AEDA-11C6-3F5113C256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b="1" dirty="0">
                <a:solidFill>
                  <a:schemeClr val="tx1"/>
                </a:solidFill>
                <a:effectLst/>
                <a:latin typeface="Bahnschrift SemiBold" panose="020B0502040204020203" pitchFamily="34" charset="0"/>
              </a:rPr>
              <a:t>File Sharing and Version Control</a:t>
            </a:r>
          </a:p>
        </p:txBody>
      </p:sp>
      <p:pic>
        <p:nvPicPr>
          <p:cNvPr id="13" name="Tartalom helye 12">
            <a:extLst>
              <a:ext uri="{FF2B5EF4-FFF2-40B4-BE49-F238E27FC236}">
                <a16:creationId xmlns:a16="http://schemas.microsoft.com/office/drawing/2014/main" id="{5A21C73B-637C-6C34-900C-480907ED648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3908710" y="4085668"/>
            <a:ext cx="1703456" cy="165924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A7F2AB3-ACC5-1A60-0193-CD9E60FEF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1912" y="4247953"/>
            <a:ext cx="1496961" cy="1496961"/>
          </a:xfrm>
          <a:prstGeom prst="rect">
            <a:avLst/>
          </a:prstGeom>
        </p:spPr>
      </p:pic>
      <p:pic>
        <p:nvPicPr>
          <p:cNvPr id="1026" name="Picture 2" descr="Github Social Network | Kaggle">
            <a:extLst>
              <a:ext uri="{FF2B5EF4-FFF2-40B4-BE49-F238E27FC236}">
                <a16:creationId xmlns:a16="http://schemas.microsoft.com/office/drawing/2014/main" id="{7601FCDF-582A-1CB6-FA0C-528ACBFEC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7166" y="4253982"/>
            <a:ext cx="1490932" cy="1490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170FADDC-1080-7E1D-2090-88C01E54E0E3}"/>
              </a:ext>
            </a:extLst>
          </p:cNvPr>
          <p:cNvSpPr txBox="1"/>
          <p:nvPr/>
        </p:nvSpPr>
        <p:spPr>
          <a:xfrm>
            <a:off x="6294967" y="2380137"/>
            <a:ext cx="5897033" cy="1456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000" indent="-306000">
              <a:spcBef>
                <a:spcPts val="432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hu-HU" sz="2050" dirty="0"/>
              <a:t>Knowledge Sharing and Documnetation</a:t>
            </a:r>
          </a:p>
          <a:p>
            <a:pPr marL="342000" indent="-306000">
              <a:spcBef>
                <a:spcPts val="432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hu-HU" sz="2400" dirty="0"/>
              <a:t>Permissions Management</a:t>
            </a:r>
          </a:p>
          <a:p>
            <a:pPr marL="342000" indent="-306000">
              <a:spcBef>
                <a:spcPts val="432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hu-HU" sz="2400" dirty="0"/>
              <a:t>Branching </a:t>
            </a:r>
          </a:p>
        </p:txBody>
      </p:sp>
    </p:spTree>
    <p:extLst>
      <p:ext uri="{BB962C8B-B14F-4D97-AF65-F5344CB8AC3E}">
        <p14:creationId xmlns:p14="http://schemas.microsoft.com/office/powerpoint/2010/main" val="3651033730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A1B43DE-5028-65E2-8566-203E5D037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Windows and Linux Server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255C10A-648C-596F-ADB6-CD6C0AD54E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58343" y="1713399"/>
            <a:ext cx="5064665" cy="3074261"/>
          </a:xfrm>
        </p:spPr>
        <p:txBody>
          <a:bodyPr/>
          <a:lstStyle/>
          <a:p>
            <a:pPr algn="ctr"/>
            <a:r>
              <a:rPr lang="hu-HU" dirty="0"/>
              <a:t>DHCP</a:t>
            </a:r>
          </a:p>
          <a:p>
            <a:pPr algn="ctr"/>
            <a:r>
              <a:rPr lang="hu-HU" dirty="0"/>
              <a:t>DNS</a:t>
            </a:r>
          </a:p>
          <a:p>
            <a:pPr algn="ctr"/>
            <a:r>
              <a:rPr lang="hu-HU" dirty="0"/>
              <a:t>IIS</a:t>
            </a:r>
          </a:p>
          <a:p>
            <a:pPr algn="ctr"/>
            <a:r>
              <a:rPr lang="hu-HU" dirty="0"/>
              <a:t>Active-Directory</a:t>
            </a:r>
          </a:p>
          <a:p>
            <a:pPr algn="ctr"/>
            <a:r>
              <a:rPr lang="hu-HU" dirty="0"/>
              <a:t>Printer Szerver</a:t>
            </a:r>
          </a:p>
          <a:p>
            <a:pPr algn="ctr"/>
            <a:r>
              <a:rPr lang="hu-HU" dirty="0"/>
              <a:t>Backup Szerver</a:t>
            </a:r>
          </a:p>
          <a:p>
            <a:pPr algn="ctr"/>
            <a:r>
              <a:rPr lang="hu-HU" dirty="0"/>
              <a:t>Group Policy Management</a:t>
            </a:r>
          </a:p>
        </p:txBody>
      </p:sp>
      <p:pic>
        <p:nvPicPr>
          <p:cNvPr id="5" name="Picture 2" descr="windows-server-logo">
            <a:extLst>
              <a:ext uri="{FF2B5EF4-FFF2-40B4-BE49-F238E27FC236}">
                <a16:creationId xmlns:a16="http://schemas.microsoft.com/office/drawing/2014/main" id="{17032BB9-DF7E-F7DF-D9AB-87D6269841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5462" y="4556408"/>
            <a:ext cx="4037162" cy="2134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Tartalom helye 16" descr="A képen művészet, kör, Grafika, Színesség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58698F6D-72D8-5BAA-F308-1A4CC58F24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7434" y="4594508"/>
            <a:ext cx="1951570" cy="213475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34683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817A90-70AB-88FD-8997-FAE17BD06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Other Softwares and Tools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13F8569-CD79-F84A-F95A-B3B5D3C947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96210" y="2235546"/>
            <a:ext cx="9955488" cy="34096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Discord: </a:t>
            </a:r>
            <a:r>
              <a:rPr lang="hu-HU" altLang="hu-HU" sz="2800" dirty="0">
                <a:ln>
                  <a:noFill/>
                </a:ln>
                <a:solidFill>
                  <a:schemeClr val="tx1"/>
                </a:solidFill>
                <a:effectLst/>
              </a:rPr>
              <a:t>Team communication</a:t>
            </a:r>
            <a:endParaRPr kumimoji="0" lang="hu-HU" altLang="hu-HU" sz="2800" i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Google Drive: Document management and storage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OBS Studio: </a:t>
            </a:r>
            <a:r>
              <a:rPr lang="hu-HU" altLang="hu-HU" sz="2800" dirty="0">
                <a:ln>
                  <a:noFill/>
                </a:ln>
                <a:solidFill>
                  <a:schemeClr val="tx1"/>
                </a:solidFill>
                <a:effectLst/>
              </a:rPr>
              <a:t>Recording raw footage</a:t>
            </a:r>
            <a:endParaRPr kumimoji="0" lang="hu-HU" altLang="hu-HU" sz="2800" i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DaVinci Resolve: </a:t>
            </a:r>
            <a:r>
              <a:rPr lang="hu-HU" altLang="hu-HU" sz="2800" dirty="0">
                <a:ln>
                  <a:noFill/>
                </a:ln>
                <a:solidFill>
                  <a:schemeClr val="tx1"/>
                </a:solidFill>
                <a:effectLst/>
              </a:rPr>
              <a:t>Post-production and video editing</a:t>
            </a:r>
            <a:endParaRPr kumimoji="0" lang="hu-HU" altLang="hu-HU" sz="2800" i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884EBEC-911B-91FB-A5F1-36ABE73D8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2663" y="1739414"/>
            <a:ext cx="1476688" cy="1476688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9878442B-F701-A822-7B5D-4B954FCCDC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2672" y="2161649"/>
            <a:ext cx="2792239" cy="2792239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8EE2C5E-3331-3575-CA74-F9363DFEA1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2114" y="3800712"/>
            <a:ext cx="1737786" cy="1737786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AE86E2E1-76D5-1E44-1EC4-0D73A5812C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59900" y="4814388"/>
            <a:ext cx="1737785" cy="1737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133176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57AB2B2-57D3-A109-613B-792764AA5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Work Distribution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A736794A-A1C3-1C84-3D27-0ADA8C681D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680"/>
          <a:stretch/>
        </p:blipFill>
        <p:spPr>
          <a:xfrm>
            <a:off x="991783" y="1803628"/>
            <a:ext cx="10197786" cy="4562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631734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F14126-DC72-2F50-D80B-DDD36B6568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5983" y="2514599"/>
            <a:ext cx="9440034" cy="1828801"/>
          </a:xfrm>
        </p:spPr>
        <p:txBody>
          <a:bodyPr>
            <a:noAutofit/>
          </a:bodyPr>
          <a:lstStyle/>
          <a:p>
            <a:r>
              <a:rPr lang="hu-HU" sz="8000" dirty="0"/>
              <a:t>Thank you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4284673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la">
  <a:themeElements>
    <a:clrScheme name="Pala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Pala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l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TM04033929[[fn=Pala]]</Template>
  <TotalTime>350</TotalTime>
  <Words>460</Words>
  <Application>Microsoft Office PowerPoint</Application>
  <PresentationFormat>Szélesvásznú</PresentationFormat>
  <Paragraphs>149</Paragraphs>
  <Slides>21</Slides>
  <Notes>18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21</vt:i4>
      </vt:variant>
    </vt:vector>
  </HeadingPairs>
  <TitlesOfParts>
    <vt:vector size="27" baseType="lpstr">
      <vt:lpstr>Aptos</vt:lpstr>
      <vt:lpstr>Bahnschrift SemiBold</vt:lpstr>
      <vt:lpstr>Calisto MT</vt:lpstr>
      <vt:lpstr>Wingdings</vt:lpstr>
      <vt:lpstr>Wingdings 2</vt:lpstr>
      <vt:lpstr>Pala</vt:lpstr>
      <vt:lpstr>Vanguard-Network</vt:lpstr>
      <vt:lpstr>Introduction</vt:lpstr>
      <vt:lpstr>Our Team</vt:lpstr>
      <vt:lpstr>Complete Network Setup</vt:lpstr>
      <vt:lpstr>Education</vt:lpstr>
      <vt:lpstr>Office</vt:lpstr>
      <vt:lpstr>Dispatcher</vt:lpstr>
      <vt:lpstr>Accommodation</vt:lpstr>
      <vt:lpstr>Reception</vt:lpstr>
      <vt:lpstr>Healthcare</vt:lpstr>
      <vt:lpstr>Warehouse</vt:lpstr>
      <vt:lpstr>Hangars</vt:lpstr>
      <vt:lpstr>Admin Room</vt:lpstr>
      <vt:lpstr>Command Center</vt:lpstr>
      <vt:lpstr>ISP</vt:lpstr>
      <vt:lpstr>Testing</vt:lpstr>
      <vt:lpstr>Jira, Scrum &amp; GitHub</vt:lpstr>
      <vt:lpstr>Windows and Linux Server</vt:lpstr>
      <vt:lpstr>Other Softwares and Tools</vt:lpstr>
      <vt:lpstr>Work Distribution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Patrik Grecz</dc:creator>
  <cp:lastModifiedBy>Patrik Grecz</cp:lastModifiedBy>
  <cp:revision>29</cp:revision>
  <dcterms:created xsi:type="dcterms:W3CDTF">2026-01-06T09:33:17Z</dcterms:created>
  <dcterms:modified xsi:type="dcterms:W3CDTF">2026-02-17T12:15:18Z</dcterms:modified>
</cp:coreProperties>
</file>