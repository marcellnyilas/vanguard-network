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6" r:id="rId2"/>
    <p:sldId id="258" r:id="rId3"/>
    <p:sldId id="259" r:id="rId4"/>
    <p:sldId id="260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62" r:id="rId14"/>
    <p:sldId id="261" r:id="rId15"/>
    <p:sldId id="274" r:id="rId16"/>
    <p:sldId id="273" r:id="rId17"/>
    <p:sldId id="271" r:id="rId18"/>
    <p:sldId id="276" r:id="rId19"/>
    <p:sldId id="275" r:id="rId20"/>
    <p:sldId id="272" r:id="rId21"/>
    <p:sldId id="257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AB2295-2079-4CB6-8FC5-5AAFA2C199A0}" type="datetimeFigureOut">
              <a:rPr lang="hu-HU" smtClean="0"/>
              <a:t>2026. 02. 22.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87266A-CB85-4818-B702-CBAEB43B1A0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62201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tervezésnél nem csupán a technikai alapokra, hanem a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Security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by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-Design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szemléletre fókuszáltunk, tehát a biztonságot már az architektúra szintjén integráltuk. Olyan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moduláris és jövőálló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struktúrát hoztunk létre, amely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Shadowhawk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Fort növekedését is rugalmasan kiszolgálja, miközben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TCO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azaz a hosszú távú üzemeltetési költségek optimalizálását is szem előtt tartottuk.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308378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munkamegosztásnál figyeltünk arra, hogy ne csak csináljuk a feladatokat, hanem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egymást ellenőrizzük is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Amíg egyikünk a konfigurációt végezte, a másik a dokumentációt és a tesztelést frissítette. Így elkerültük a hibákat, és a projekt végére egy olyan anyagot raktunk össze, amiből bárki pontosan látja, hogyan épül fel a rendszerünk.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92845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hálózatot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Cisco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Packet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Tracerben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szimuláltuk, hogy éles bevetés előtt tesztelhessük a működést. A felépítésnél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kevert topológiát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használtunk a maximális stabilitás érdekében. Külön figyelmet fordítottunk a biztonságra, így minden eszközt és hozzáférést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titkosított jelszavakkal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védtünk le. A legfontosabb viszont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2. és 3.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rétegbeli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redundancia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ez garantálja, hogy ha egy kábel vagy egy útvonal kiesik, a forgalom azonnal átáll egy másikra, így a felhasználók semmit nem vesznek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észre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hibából.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844840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MARCI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Az oktatási részlegnél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VLAN-ok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biztosítják, hogy a nagy forgalom ne zavarja a cég többi részét. Minden eszköz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DHCP-n keresztül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automatikusan kap IP-címet, ami nagyban megkönnyíti a sok kliens kezelését. A WiFi-nél a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dual-band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technológiát használtuk a stabil kapcsolathoz,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dinamikus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routing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pedig garantálja, hogy a hálózat emberi beavatkozás nélkül, magától lekövesse az útvonalmódosításokat.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58200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Az irodai hálózatnál a biztonság fokozása érdekében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ACL-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eket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(Access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Control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List)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konfiguráltunk. Ez a gyakorlatban úgy néz ki, hogy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Pénzügy forgalmát szigorúan korlátoztuk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hogy a szenzitív adatokhoz csak az férhessen hozzá, akinek valóban dolga van vele, míg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HR részleg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számára szabadabb, de továbbra is kontrollált hozzáférést biztosítottunk. Itt is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dinamikus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routing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felel a hálózati utak stabilitásáért, így a belső adatforgalom mindig a leggyorsabb útvonalon éri el a szervereket, függetlenül attól, hogy melyik részleg indította a lekérést.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414779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MARCI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Mivel a diszpécser központ fizikailag közel található a többi egységhez, a kapcsolatot nagy sebességű, közvetlen összeköttetéssel oldottuk meg.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VPN-t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itt elsősorban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biztonságos távoli elérés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miatt tartottuk meg, hogy a rendszergazdák vagy a vezetőség kívülről is titkosított csatornán keresztül, biztonságosan felügyelhessék a folyamatokat. Ez a megoldás egyesíti a helyi hálózat gyorsaságát a távoli munka rugalmasságával, miközben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dinamikus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routing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folyamatosan optimalizálja az adatforgalmat ezen a kiemelt fontosságú szakaszon.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911075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szállás hálózatánál a legfontosabb szempont az elkülönítés volt. Mivel ez egy publikusabb zóna, egy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szigorú ACL-t (Access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Control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List)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állítottunk be, ami teljesen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letiltja a forgalmat a belső hálózatunk felé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Így hiába csatlakozik valaki a szálláson a netre, esélye sincs 'beleszólni' a vállalati szerverekhez vagy az irodai gépekhez.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DHCP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itt is automatikusan kiosztja a címeket a vendégeknek, a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dual-band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WiFi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pedig bírja a terhelést, de a biztonsági falunk garantálja, hogy a szállás forgalma megálljon a saját határain belül.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413746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MARCI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portai részlegnél a modern épületfelügyeletet modelleztük, ahol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IoT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(Internet of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Things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 eszközöket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– például egy okos ajtót és a hozzá tartozó vezérlőt – kapcsoltunk a hálózatra. Ezek az eszközök egy dedikált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IoT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szerveren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keresztül kommunikálnak, így a beléptetés és a megfigyelés távolról, központilag is kezelhető.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dinamikus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routing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itt is biztosítja a stabil adatkapcsolatot,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DHCP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pedig egyszerűvé teszi az új okoseszközök hálózatra illesztését, legyen szó akár egy új kameráról vagy egy szenzorról.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069898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Az egészségügyi részlegnél a legmagasabb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Security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leveleket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alkalmaztuk, hiszen itt kezeljük a legérzékenyebb adatokat.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tűzfalat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úgy konfiguráltuk, hogy kifelé minden forgalmat engedélyezzen, de befelé egy szigorú szűrőként működik: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kívülről semmi nem juthat be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hálózatba, csak az, ami válasz egy belső kérésre. Ezt fejeltük meg egy plusz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ACL-el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ami még a belső hálózaton belül is korlátoz: a szerverekhez és a kritikus eszközökhöz kizárólag az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Admin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szobából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lehet hozzáférni. Ez a többrétegű védelem garantálja, hogy se külső támadás, se egy véletlen belső hiba ne veszélyeztesse az egészségügyi adatbázist.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82895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MARCI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raktári hálózatnál egy vegyes megoldást alkalmaztunk a forgalomirányításra. A belső kommunikáció és az alapértelmezett hálózati elérés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dinamikus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routingon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alapul, ami automatikusan tartja naprakészen az útvonalakat. Viszont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statikus címfordítás (NAT)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mellé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statikus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routingot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is beállítottunk: ez garantálja, hogy a lefordított, fix külső címekre érkező kérések mindig tűpontosan és stabilan célba érjenek. Ez a kettős megoldás biztosítja, hogy a raktárirányítási rendszerünk és a szerverek elérése akkor is zavartalan maradjon, ha a hálózat többi része éppen dinamikusan változik.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44056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hangároknál a leglátványosabb az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IoT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integráció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a garázskapukat okos eszközökként kezeltük, amik közvetlenül a hálózati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IoT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szerverre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csatlakoznak. Ez lehetővé teszi a kapuk távoli, automatizált vezérlését és állapotuk monitorozását. Itt is a kettős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routing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elvét követtük: a belső forgalmat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dinamikus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routing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kezeli, míg a külső eléréshez és a specifikus kapuvezérlő jelekhez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statikus útvonalakat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és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dinamikus címfordítást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hívtuk segítségül. Így értük el, hogy a nagy kiterjedésű hangár-területen is minden szenzor és kapu stabilan, késleltetés nélkül reagáljon a parancsokra.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301354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MARCI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Az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Admin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Szoba a hálózatunk igazi irányítóközpontja, ahol a legmodernebb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Dual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Stack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megoldást alkalmaztuk. Ez a gyakorlatban azt jelenti, hogy a rendszerünk párhuzamosan, teljes harmóniában kezeli az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IPv4 és IPv6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címzést, így biztosítva, hogy a hálózat minden egyes pontja bárhonnan elérhető és menedzselhető legyen. A szoba technikai lelke egy nagy teljesítményű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Multilayer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Switch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ami messze túlmutat egy egyszerű elosztón: ez az eszköz végzi a magas szintű forgalomirányítást és köti össze a különböző részlegeket.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dinamikus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routinggal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kiegészülve ez a felállás garantálja, hogy az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Admin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Szobából teljes rálátásunk legyen a rendszerre, és bármilyen távoli végpontot – legyen az a hangár vagy az egészségügyi részleg – azonnal, késleltetés nélkül elérjünk, ha beavatkozásra vagy konfigurációra van szükség.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578054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Parancsnoki Központ a hálózatunk másik stratégiai csomópontja, ahol szintén a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Dual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Stack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technológiát alkalmazzuk. Ez biztosítja az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IPv4 és IPv6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protokollok párhuzamos futtatását, így a központból akadálytalanul kommunikálhatunk a hálózat régebbi és újabb generációs eszközeivel is. A forgalom zökkenőmentes irányításáért itt is egy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Multilayer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Switch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felel, ami lehetővé teszi a különböző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VLAN-ok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közötti villámgyors átjárást és a magas szintű adatfeldolgozást.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dinamikus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routinggal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kiegészülve ez a struktúra garantálja, hogy a parancsnoki döntések és adatok mindig a legoptimálisabb útvonalon jussanak el a célállomásokig, fenntartva a teljes hálózat egységét és elérhetőségét.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680654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Ebben a szakaszban magát az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ISP-t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vagyis az internetszolgáltatót szimuláltuk, ami a kapcsolatot biztosítja a külvilággal. Itt a legfontosabb folyamat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NAT (Network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Address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Translation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ez a technológia végzi azt a 'fordítást', amivel az összes belső, privát IP-címünket egyetlen publikus külső címre képezi le. Ez nemcsak takarékos megoldás a címekkel, hanem egy alapvető biztonsági szintet is ad, hiszen a belső hálózatunk nem látszik közvetlenül az internetről. A stabil adatforgalmat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statikus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routinggal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biztosítottuk a szolgáltató felé, így garantált, hogy a csomagok mindig megtalálják a kivezető utat, legyen szó böngészésről vagy a távoli VPN elérésről.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29416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MARCI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projekt utolsó, de talán legfontosabb szakasza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szisztematikus tesztelés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volt. Hiába a jól megtervezett topológia, a gyakorlatban derül ki, hogy az ACL-ek valóban fognak-e, vagy a DHCP megfelelően osztja-e a címeket. A folyamatot professzionális szinten kezeltük: minden felmerülő hálózati hibát vagy konfigurációs rést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Bug-ként rögzítettünk a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Jira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-ban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Nem söpörtük a szőnyeg alá a problémákat; a hibajegyek lehetővé tették, hogy pontosan kövessük a hibák forrását, delegáljuk a javítást, majd a megoldás után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újrateszteljük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az adott szakaszt. Ez a módszer garantálta, hogy a végén egy olyan stabil és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validált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rendszert adjunk át, ahol minden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és minden biztonsági szabály pontosan úgy működik, ahogy azt a nagykönyvben megírtuk.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758906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lang="hu-HU" dirty="0"/>
              <a:t>MARCI – 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projektmenedzsmenthez a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Jira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-t és a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Scrum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módszertant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választottuk, ami lehetővé tette számunkra a feladatok precíz nyomon követését és a sprint-alapú tervezést. Itt a legfontosabb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Bug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Tracking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(hibakövetés) volt: minden tesztelés során talált problémát külön hibajegyként kezeltünk, rögzítettük a státuszukat, és szisztematikusan megoldottuk őket. 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Ezzel párhuzamosan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GitHubot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használtuk fájlmegosztásra és verziókövetésre. A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Branch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-ek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vagyis ágak kezelésével elkerültük, hogy egymás munkáját felülírjuk, a jogosultságkezelés pedig biztosította a dokumentáció és a konfigurációs fájlok védelmét. Ez a két rendszer együtt adta meg azt a keretet, amivel a tervezéstől a hibajavításig minden folyamatunk átlátható és visszakövethető maradt.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266983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MARCI - 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hálózati infrastruktúra mellett a kiszolgálói oldalt is teljesen lemodelleztük: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VirtualBox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környezetben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futtattunk Windows Server és Debian Linux példányokat, hogy szimuláljuk a valódi vállalati szolgáltatásokat. A Windows szerveren építettük fel az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Active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Directory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központi jogosultságkezeléshez, valamint itt futnak a kritikus alapok, mint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DNS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a webes tartalmakért felelős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IIS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illetve a nyomtató- és backup szerverek is. A csoportházirendeket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Group Policy Managementtel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szabályoztuk, hogy minden munkaállomás egységes és biztonságos legyen. A Linux (Debian) vonalon pedig a rugalmasság és a stabilitás volt a cél, kiegészítve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DHCP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kiosztást és a hálózat egyéb támogató funkcióit, így a szoftveres és hardveres réteg egyetlen, integrált rendszert alkot.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1851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MARCI – 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Végül, de nem utolsósorban, a technikai infrastruktúrát egy sor támogató szoftverrel egészítettük ki a hatékony munkavégzés érdekében. A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Discord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szolgált a belső kommunikáció bázisául, ahol a gyors döntéseket hoztuk meg, míg a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Google Drive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biztosította a dokumentációink központi, felhőalapú tárolását és rendszerezését. Mivel a projektet dokumentálni is szerettük volna, az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OBS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Studio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segítségével rögzítettük a nyersanyagokat és a hálózati szimulációkat, a végső, bemutatásra szánt videókat pedig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DaVinci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Resolve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-ban vágtuk össze. Ezek az eszközök tették lehetővé, hogy a komplex mérnöki folyamatokat egy jól emészthető és látványos prezentáció formájában tudjuk most elétek tárni.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2881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PATRIK -- 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Ahogy a grafikonon is látszik, a munkamegosztásunk szinte sebészi pontossággal feleződött meg Marcell és Patrik között. Nemcsak a feladatokat osztottuk le, hanem a felelősséget is: amíg egyikünk a hálózati logikát és a biztonsági protokollokat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finomhangolta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a másikunk a szerveroldali szolgáltatásokért és a precíz dokumentációért felelt. A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Jira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-ban mért több mint </a:t>
            </a:r>
            <a:r>
              <a:rPr lang="hu-HU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100-100 munkaóra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nem csak a gépelést jelenti, hanem azt a rengeteg közös ötletelést és hibajavítást is, aminek köszönhetően a rendszerünk minden eleme stabilan együttműködik. Ez a kiegyensúlyozott munkatempó volt a kulcsa annak, hogy a határidőket tartva, egy teljesen </a:t>
            </a:r>
            <a:r>
              <a:rPr lang="hu-HU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validált</a:t>
            </a:r>
            <a:r>
              <a:rPr lang="hu-HU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és tesztelt hálózatot tudtunk letenni az asztalra.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7266A-CB85-4818-B702-CBAEB43B1A09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232266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70282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195743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38908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84979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28778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9652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744869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640535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30066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01619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155876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31826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6061311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30036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82032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710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03705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D25B39C7-3761-4B48-AAEE-5F77047FB7CA}" type="datetimeFigureOut">
              <a:rPr lang="hu-HU" smtClean="0"/>
              <a:t>2026. 02. 22.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1EC820A-7C3B-46EA-98BF-CCC53CEA49CA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90854400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247D3E1-6582-7927-7215-16F780075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41400"/>
            <a:ext cx="9144000" cy="23876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</a:rPr>
              <a:t>Shadowhawk-Fort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62AD4B9-0DC3-159F-A608-C34BBD29AC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672860" y="6422876"/>
            <a:ext cx="8962844" cy="435124"/>
          </a:xfrm>
        </p:spPr>
        <p:txBody>
          <a:bodyPr>
            <a:noAutofit/>
          </a:bodyPr>
          <a:lstStyle/>
          <a:p>
            <a:r>
              <a:rPr lang="hu-HU" sz="2400" dirty="0"/>
              <a:t>Készítette: Nyilas Marcell Gergely és Grecz Patrik Károly</a:t>
            </a:r>
          </a:p>
        </p:txBody>
      </p:sp>
    </p:spTree>
    <p:extLst>
      <p:ext uri="{BB962C8B-B14F-4D97-AF65-F5344CB8AC3E}">
        <p14:creationId xmlns:p14="http://schemas.microsoft.com/office/powerpoint/2010/main" val="2619129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Bemutatkozó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2400" dirty="0">
                <a:solidFill>
                  <a:schemeClr val="tx1"/>
                </a:solidFill>
              </a:rPr>
              <a:t>Nevünk: Vanguard-Network</a:t>
            </a:r>
          </a:p>
          <a:p>
            <a:r>
              <a:rPr lang="hu-HU" sz="2400" dirty="0">
                <a:solidFill>
                  <a:schemeClr val="tx1"/>
                </a:solidFill>
              </a:rPr>
              <a:t>Cég: Shadowhawk fort</a:t>
            </a:r>
          </a:p>
          <a:p>
            <a:r>
              <a:rPr lang="hu-HU" sz="2400" dirty="0">
                <a:solidFill>
                  <a:schemeClr val="tx1"/>
                </a:solidFill>
              </a:rPr>
              <a:t>Szakterület: hálózatok, rendszerek, digitális infrastruktúra </a:t>
            </a:r>
          </a:p>
          <a:p>
            <a:r>
              <a:rPr lang="hu-HU" sz="2400" dirty="0">
                <a:solidFill>
                  <a:schemeClr val="tx1"/>
                </a:solidFill>
              </a:rPr>
              <a:t>Cél: stabil, biztonságos és költséghatékony hálózatok kiépítése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1026" name="Picture 2" descr="Shadowhawk Torches LED Super Bright, 500000 Lumens Rechargeable LED ...">
            <a:extLst>
              <a:ext uri="{FF2B5EF4-FFF2-40B4-BE49-F238E27FC236}">
                <a16:creationId xmlns:a16="http://schemas.microsoft.com/office/drawing/2014/main" id="{4F626314-7E95-887A-9DDE-209CE3409A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1120" y="4494176"/>
            <a:ext cx="3333750" cy="1666875"/>
          </a:xfrm>
          <a:prstGeom prst="rect">
            <a:avLst/>
          </a:prstGeom>
          <a:noFill/>
          <a:effectLst>
            <a:softEdge rad="381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 descr="A képen embléma, Grafika, szimbólum, clipart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7B7CDF07-1723-E4C4-050B-FA13F460CF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" t="8932" b="8932"/>
          <a:stretch/>
        </p:blipFill>
        <p:spPr>
          <a:xfrm>
            <a:off x="1578634" y="4494175"/>
            <a:ext cx="3042247" cy="1666875"/>
          </a:xfrm>
          <a:prstGeom prst="rect">
            <a:avLst/>
          </a:prstGeom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308921567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Csapatunk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25747"/>
            <a:ext cx="10353762" cy="4058751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/>
                </a:solidFill>
              </a:rPr>
              <a:t>Nyilas Marcell Gergely (PM)</a:t>
            </a:r>
            <a:endParaRPr lang="hu-HU" sz="2200" dirty="0">
              <a:solidFill>
                <a:schemeClr val="tx1"/>
              </a:solidFill>
            </a:endParaRP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Feladatok követése, Jira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Hálózati architektúra tervezése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Tesztelés</a:t>
            </a:r>
          </a:p>
          <a:p>
            <a:r>
              <a:rPr lang="hu-HU" sz="2400" dirty="0">
                <a:solidFill>
                  <a:schemeClr val="tx1"/>
                </a:solidFill>
              </a:rPr>
              <a:t>Grecz Patrik Károly (PM Support)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Eszközök konfigurálása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Projektbemutató összeállítása</a:t>
            </a:r>
          </a:p>
          <a:p>
            <a:pPr lvl="1"/>
            <a:r>
              <a:rPr lang="hu-HU" sz="2200" dirty="0">
                <a:solidFill>
                  <a:schemeClr val="tx1"/>
                </a:solidFill>
              </a:rPr>
              <a:t>Dokumentáció</a:t>
            </a:r>
          </a:p>
          <a:p>
            <a:pPr lvl="1"/>
            <a:endParaRPr lang="hu-HU" sz="2200" dirty="0">
              <a:solidFill>
                <a:schemeClr val="tx1"/>
              </a:solidFill>
            </a:endParaRPr>
          </a:p>
          <a:p>
            <a:pPr lvl="1"/>
            <a:endParaRPr lang="hu-HU" sz="2200" dirty="0">
              <a:solidFill>
                <a:schemeClr val="tx1"/>
              </a:solidFill>
            </a:endParaRPr>
          </a:p>
          <a:p>
            <a:pPr marL="450000" lvl="1" indent="0">
              <a:buNone/>
            </a:pPr>
            <a:endParaRPr lang="hu-HU" sz="2200" dirty="0">
              <a:solidFill>
                <a:schemeClr val="tx1"/>
              </a:solidFill>
            </a:endParaRPr>
          </a:p>
          <a:p>
            <a:endParaRPr lang="hu-HU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915439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359434"/>
            <a:ext cx="10353762" cy="970450"/>
          </a:xfrm>
        </p:spPr>
        <p:txBody>
          <a:bodyPr/>
          <a:lstStyle/>
          <a:p>
            <a:pPr algn="ctr"/>
            <a:r>
              <a:rPr lang="hu-HU" dirty="0"/>
              <a:t>Teljes hálózat felépítése</a:t>
            </a:r>
          </a:p>
        </p:txBody>
      </p:sp>
      <p:pic>
        <p:nvPicPr>
          <p:cNvPr id="5" name="drawing">
            <a:extLst>
              <a:ext uri="{FF2B5EF4-FFF2-40B4-BE49-F238E27FC236}">
                <a16:creationId xmlns:a16="http://schemas.microsoft.com/office/drawing/2014/main" id="{6A54291B-9791-8EDC-56E8-DD004BCF2E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00161" y="1329884"/>
            <a:ext cx="7539487" cy="536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273086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Oktatás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Vlan</a:t>
            </a:r>
          </a:p>
          <a:p>
            <a:r>
              <a:rPr lang="hu-HU" sz="2800" dirty="0">
                <a:solidFill>
                  <a:schemeClr val="tx1"/>
                </a:solidFill>
              </a:rPr>
              <a:t>DHCP</a:t>
            </a:r>
          </a:p>
          <a:p>
            <a:r>
              <a:rPr lang="hu-HU" sz="2800" dirty="0">
                <a:solidFill>
                  <a:schemeClr val="tx1"/>
                </a:solidFill>
              </a:rPr>
              <a:t>Wifi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2,4 GHz 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5 GHz</a:t>
            </a:r>
          </a:p>
          <a:p>
            <a:r>
              <a:rPr lang="hu-HU" sz="3000" dirty="0">
                <a:solidFill>
                  <a:schemeClr val="tx1"/>
                </a:solidFill>
              </a:rPr>
              <a:t>Dinamikus routing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E3E85D75-BD78-766C-9EA7-CA87D9DC2B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219" y="1691484"/>
            <a:ext cx="5003322" cy="414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503321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Iroda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7"/>
            <a:ext cx="10353762" cy="4720111"/>
          </a:xfrm>
        </p:spPr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Pénzügy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ACL</a:t>
            </a:r>
          </a:p>
          <a:p>
            <a:r>
              <a:rPr lang="hu-HU" sz="2800" dirty="0">
                <a:solidFill>
                  <a:schemeClr val="tx1"/>
                </a:solidFill>
              </a:rPr>
              <a:t>HR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3000" dirty="0">
                <a:solidFill>
                  <a:schemeClr val="tx1"/>
                </a:solidFill>
              </a:rPr>
              <a:t>Dinamikus routing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8B8DCBF-EB81-CF70-77B7-A6530E19F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451" y="1932768"/>
            <a:ext cx="4725059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349470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Diszpécser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VPN</a:t>
            </a:r>
          </a:p>
          <a:p>
            <a:r>
              <a:rPr lang="hu-HU" sz="2800" dirty="0">
                <a:solidFill>
                  <a:schemeClr val="tx1"/>
                </a:solidFill>
              </a:rPr>
              <a:t>Dinamikus routing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E4DCF32-252C-96A7-68EE-6F75246667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214" y="1942185"/>
            <a:ext cx="4010311" cy="363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527187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Szállás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633845"/>
          </a:xfrm>
        </p:spPr>
        <p:txBody>
          <a:bodyPr anchor="ctr">
            <a:normAutofit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DHCP</a:t>
            </a:r>
          </a:p>
          <a:p>
            <a:r>
              <a:rPr lang="hu-HU" sz="2800" dirty="0">
                <a:solidFill>
                  <a:schemeClr val="tx1"/>
                </a:solidFill>
              </a:rPr>
              <a:t>WiFi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2,4 GHz</a:t>
            </a:r>
          </a:p>
          <a:p>
            <a:pPr lvl="1"/>
            <a:r>
              <a:rPr lang="hu-HU" sz="2800" dirty="0">
                <a:solidFill>
                  <a:schemeClr val="tx1"/>
                </a:solidFill>
              </a:rPr>
              <a:t>5 GHz</a:t>
            </a:r>
          </a:p>
          <a:p>
            <a:r>
              <a:rPr lang="hu-HU" sz="3000" dirty="0">
                <a:solidFill>
                  <a:schemeClr val="tx1"/>
                </a:solidFill>
              </a:rPr>
              <a:t>Dinamikus </a:t>
            </a:r>
            <a:r>
              <a:rPr lang="hu-HU" sz="3000" dirty="0" err="1">
                <a:solidFill>
                  <a:schemeClr val="tx1"/>
                </a:solidFill>
              </a:rPr>
              <a:t>routing</a:t>
            </a:r>
            <a:endParaRPr lang="hu-HU" sz="3000" dirty="0">
              <a:solidFill>
                <a:schemeClr val="tx1"/>
              </a:solidFill>
            </a:endParaRPr>
          </a:p>
          <a:p>
            <a:r>
              <a:rPr lang="hu-HU" sz="3000" dirty="0">
                <a:solidFill>
                  <a:schemeClr val="tx1"/>
                </a:solidFill>
              </a:rPr>
              <a:t>ACL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994D685-F3DB-8A8E-7013-816740BAFA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221" y="2012068"/>
            <a:ext cx="4519549" cy="349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623263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Porta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DHCP</a:t>
            </a:r>
          </a:p>
          <a:p>
            <a:r>
              <a:rPr lang="hu-HU" sz="2800" dirty="0">
                <a:solidFill>
                  <a:schemeClr val="tx1"/>
                </a:solidFill>
              </a:rPr>
              <a:t>IoT szerver</a:t>
            </a:r>
          </a:p>
          <a:p>
            <a:r>
              <a:rPr lang="hu-HU" sz="2800" dirty="0">
                <a:solidFill>
                  <a:schemeClr val="tx1"/>
                </a:solidFill>
              </a:rPr>
              <a:t>IoT eszköz</a:t>
            </a:r>
          </a:p>
          <a:p>
            <a:r>
              <a:rPr lang="hu-HU" sz="2800" dirty="0">
                <a:solidFill>
                  <a:schemeClr val="tx1"/>
                </a:solidFill>
              </a:rPr>
              <a:t>Dinamikus routing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745618C3-4318-01DF-B065-2D8F8B40A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774" y="2485893"/>
            <a:ext cx="4782217" cy="1886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065731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733429F-8CA7-3B9E-04F1-FABA49AD4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Egészségügy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BB3668-BA45-3E6B-6746-01BB1EB397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Tűzfal</a:t>
            </a:r>
          </a:p>
          <a:p>
            <a:r>
              <a:rPr lang="hu-HU" sz="2800" dirty="0">
                <a:solidFill>
                  <a:schemeClr val="tx1"/>
                </a:solidFill>
              </a:rPr>
              <a:t>ACL</a:t>
            </a:r>
          </a:p>
          <a:p>
            <a:r>
              <a:rPr lang="hu-HU" sz="2800" dirty="0">
                <a:solidFill>
                  <a:schemeClr val="tx1"/>
                </a:solidFill>
              </a:rPr>
              <a:t>Dinamikus routing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BDD73C12-E7BF-6A7F-325E-5DA6E10C8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0271" y="1998665"/>
            <a:ext cx="3993037" cy="3526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125282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733429F-8CA7-3B9E-04F1-FABA49AD4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Raktár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BB3668-BA45-3E6B-6746-01BB1EB39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78925" cy="4351338"/>
          </a:xfrm>
        </p:spPr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Statikus cím fordítás</a:t>
            </a:r>
          </a:p>
          <a:p>
            <a:r>
              <a:rPr lang="hu-HU" sz="2800" dirty="0">
                <a:solidFill>
                  <a:schemeClr val="tx1"/>
                </a:solidFill>
              </a:rPr>
              <a:t>Dinamikus/Statikus routing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39808EC1-4D52-E203-96EA-75A8F7C88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850" y="1825625"/>
            <a:ext cx="4506557" cy="3515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64697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733429F-8CA7-3B9E-04F1-FABA49AD4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Hangárok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BB3668-BA45-3E6B-6746-01BB1EB39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45151" cy="4351338"/>
          </a:xfrm>
        </p:spPr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IPv4</a:t>
            </a:r>
          </a:p>
          <a:p>
            <a:r>
              <a:rPr lang="hu-HU" sz="2800" dirty="0">
                <a:solidFill>
                  <a:schemeClr val="tx1"/>
                </a:solidFill>
              </a:rPr>
              <a:t>Dinamikus cím forditás</a:t>
            </a:r>
          </a:p>
          <a:p>
            <a:r>
              <a:rPr lang="hu-HU" sz="2800" dirty="0">
                <a:solidFill>
                  <a:schemeClr val="tx1"/>
                </a:solidFill>
              </a:rPr>
              <a:t>IoT szerver</a:t>
            </a:r>
          </a:p>
          <a:p>
            <a:r>
              <a:rPr lang="hu-HU" sz="2800" dirty="0">
                <a:solidFill>
                  <a:schemeClr val="tx1"/>
                </a:solidFill>
              </a:rPr>
              <a:t>IoT eszközök</a:t>
            </a:r>
          </a:p>
          <a:p>
            <a:r>
              <a:rPr lang="hu-HU" sz="2800" dirty="0">
                <a:solidFill>
                  <a:schemeClr val="tx1"/>
                </a:solidFill>
              </a:rPr>
              <a:t>Dinamikus/Statikus routing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8C324D5F-CE2C-E882-D7A1-743C1629CA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760" y="2104559"/>
            <a:ext cx="4744033" cy="3381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46209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 err="1">
                <a:solidFill>
                  <a:schemeClr val="tx1"/>
                </a:solidFill>
              </a:rPr>
              <a:t>Admin</a:t>
            </a:r>
            <a:r>
              <a:rPr lang="hu-HU" dirty="0">
                <a:solidFill>
                  <a:schemeClr val="tx1"/>
                </a:solidFill>
              </a:rPr>
              <a:t> Szoba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IPv6</a:t>
            </a:r>
          </a:p>
          <a:p>
            <a:r>
              <a:rPr lang="hu-HU" sz="2800" dirty="0">
                <a:solidFill>
                  <a:schemeClr val="tx1"/>
                </a:solidFill>
              </a:rPr>
              <a:t>Vlan</a:t>
            </a:r>
          </a:p>
          <a:p>
            <a:r>
              <a:rPr lang="hu-HU" sz="2800" dirty="0">
                <a:solidFill>
                  <a:schemeClr val="tx1"/>
                </a:solidFill>
              </a:rPr>
              <a:t>Dinamikus routing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B22A7A36-FCBB-F503-8A81-A158C1D33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913" y="2386959"/>
            <a:ext cx="4873891" cy="2590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022404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DC1072-BBD7-9A9D-A23A-53B6DB98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Parancsnoki Központ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1372B-CC2A-6DB9-0AFE-01E2B7E71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hu-HU" sz="2800" dirty="0">
                <a:solidFill>
                  <a:schemeClr val="tx1"/>
                </a:solidFill>
              </a:rPr>
              <a:t>IPv6</a:t>
            </a:r>
          </a:p>
          <a:p>
            <a:r>
              <a:rPr lang="hu-HU" sz="2800" dirty="0">
                <a:solidFill>
                  <a:schemeClr val="tx1"/>
                </a:solidFill>
              </a:rPr>
              <a:t>Vlan</a:t>
            </a:r>
          </a:p>
          <a:p>
            <a:r>
              <a:rPr lang="hu-HU" sz="2800" dirty="0">
                <a:solidFill>
                  <a:schemeClr val="tx1"/>
                </a:solidFill>
              </a:rPr>
              <a:t>Dinamikus routing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6BCE332-5837-D730-E67E-DA44C5DAD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265" y="2445176"/>
            <a:ext cx="4582721" cy="2633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750508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51D5E0-7F3E-F64F-C53E-2298C0B14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Internet Szolgáltató (ISP)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3A9E23B-BD7B-2EFB-7E01-EFFF31FA9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5487005" cy="4058751"/>
          </a:xfrm>
        </p:spPr>
        <p:txBody>
          <a:bodyPr anchor="ctr"/>
          <a:lstStyle/>
          <a:p>
            <a:r>
              <a:rPr lang="hu-HU" sz="2800" dirty="0"/>
              <a:t>IPv4</a:t>
            </a:r>
          </a:p>
          <a:p>
            <a:r>
              <a:rPr lang="hu-HU" sz="2800" dirty="0"/>
              <a:t>Statikus </a:t>
            </a:r>
            <a:r>
              <a:rPr lang="hu-HU" sz="2800" dirty="0" err="1"/>
              <a:t>rouring</a:t>
            </a:r>
            <a:endParaRPr lang="hu-HU" sz="2800" dirty="0"/>
          </a:p>
          <a:p>
            <a:r>
              <a:rPr lang="hu-HU" sz="2800" dirty="0"/>
              <a:t>NAT</a:t>
            </a:r>
          </a:p>
          <a:p>
            <a:endParaRPr lang="hu-HU" dirty="0"/>
          </a:p>
        </p:txBody>
      </p:sp>
      <p:pic>
        <p:nvPicPr>
          <p:cNvPr id="4" name="drawing">
            <a:extLst>
              <a:ext uri="{FF2B5EF4-FFF2-40B4-BE49-F238E27FC236}">
                <a16:creationId xmlns:a16="http://schemas.microsoft.com/office/drawing/2014/main" id="{F8AC661E-F5A4-530D-926F-33218E0AF5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9453" y="2549914"/>
            <a:ext cx="5074425" cy="260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07679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1C7A5AB-43A0-EC8E-7161-0CCEC6666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2" y="207033"/>
            <a:ext cx="10353762" cy="970450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Tesztelés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A298645-273E-8E18-FD22-4043687B05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23" y="1501313"/>
            <a:ext cx="11267554" cy="4727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287049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99D836-7FE9-FF64-9969-F039DCFEB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  <a:effectLst/>
              </a:rPr>
              <a:t>Jira, Scrum &amp; GitHub</a:t>
            </a:r>
          </a:p>
        </p:txBody>
      </p:sp>
      <p:sp>
        <p:nvSpPr>
          <p:cNvPr id="6" name="Szöveg helye 5">
            <a:extLst>
              <a:ext uri="{FF2B5EF4-FFF2-40B4-BE49-F238E27FC236}">
                <a16:creationId xmlns:a16="http://schemas.microsoft.com/office/drawing/2014/main" id="{CC9E38D2-9DD0-9397-5A1B-02275C3DF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b="1" dirty="0">
                <a:solidFill>
                  <a:schemeClr val="tx1"/>
                </a:solidFill>
                <a:effectLst/>
                <a:latin typeface="Bahnschrift SemiBold" panose="020B0502040204020203" pitchFamily="34" charset="0"/>
              </a:rPr>
              <a:t>Feladat és Projektmenedzsment</a:t>
            </a:r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73CDF1ED-0CD0-9A14-DE6A-32A57B609F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3795" y="2380137"/>
            <a:ext cx="4968421" cy="3411063"/>
          </a:xfrm>
        </p:spPr>
        <p:txBody>
          <a:bodyPr>
            <a:normAutofit/>
          </a:bodyPr>
          <a:lstStyle/>
          <a:p>
            <a:pPr>
              <a:buSzPct val="100000"/>
              <a:buFont typeface="Wingdings" panose="05000000000000000000" pitchFamily="2" charset="2"/>
              <a:buChar char="v"/>
            </a:pPr>
            <a:r>
              <a:rPr lang="hu-HU" sz="2400" dirty="0">
                <a:solidFill>
                  <a:schemeClr val="tx1"/>
                </a:solidFill>
                <a:effectLst/>
              </a:rPr>
              <a:t>Hibakövetés (Bug Tracking)</a:t>
            </a:r>
          </a:p>
          <a:p>
            <a:pPr>
              <a:buSzPct val="100000"/>
              <a:buFont typeface="Wingdings" panose="05000000000000000000" pitchFamily="2" charset="2"/>
              <a:buChar char="v"/>
            </a:pPr>
            <a:r>
              <a:rPr lang="hu-HU" sz="2400" dirty="0">
                <a:solidFill>
                  <a:schemeClr val="tx1"/>
                </a:solidFill>
                <a:effectLst/>
              </a:rPr>
              <a:t>Sprint Menü</a:t>
            </a:r>
          </a:p>
          <a:p>
            <a:pPr>
              <a:buSzPct val="100000"/>
              <a:buFont typeface="Wingdings" panose="05000000000000000000" pitchFamily="2" charset="2"/>
              <a:buChar char="v"/>
            </a:pPr>
            <a:r>
              <a:rPr lang="hu-HU" sz="2400" dirty="0">
                <a:solidFill>
                  <a:schemeClr val="tx1"/>
                </a:solidFill>
                <a:effectLst/>
              </a:rPr>
              <a:t>Tervezés és Jelentéskészítés</a:t>
            </a:r>
          </a:p>
        </p:txBody>
      </p:sp>
      <p:sp>
        <p:nvSpPr>
          <p:cNvPr id="8" name="Szöveg helye 7">
            <a:extLst>
              <a:ext uri="{FF2B5EF4-FFF2-40B4-BE49-F238E27FC236}">
                <a16:creationId xmlns:a16="http://schemas.microsoft.com/office/drawing/2014/main" id="{3EB5E08E-2922-AEDA-11C6-3F5113C256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b="1" dirty="0">
                <a:solidFill>
                  <a:schemeClr val="tx1"/>
                </a:solidFill>
                <a:effectLst/>
                <a:latin typeface="Bahnschrift SemiBold" panose="020B0502040204020203" pitchFamily="34" charset="0"/>
              </a:rPr>
              <a:t>Fájlmegosztás és Verziókövetés</a:t>
            </a:r>
          </a:p>
        </p:txBody>
      </p:sp>
      <p:pic>
        <p:nvPicPr>
          <p:cNvPr id="13" name="Tartalom helye 12">
            <a:extLst>
              <a:ext uri="{FF2B5EF4-FFF2-40B4-BE49-F238E27FC236}">
                <a16:creationId xmlns:a16="http://schemas.microsoft.com/office/drawing/2014/main" id="{5A21C73B-637C-6C34-900C-480907ED648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3908710" y="4085668"/>
            <a:ext cx="1703456" cy="165924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A7F2AB3-ACC5-1A60-0193-CD9E60FEF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1912" y="4247953"/>
            <a:ext cx="1496961" cy="1496961"/>
          </a:xfrm>
          <a:prstGeom prst="rect">
            <a:avLst/>
          </a:prstGeom>
        </p:spPr>
      </p:pic>
      <p:pic>
        <p:nvPicPr>
          <p:cNvPr id="1026" name="Picture 2" descr="Github Social Network | Kaggle">
            <a:extLst>
              <a:ext uri="{FF2B5EF4-FFF2-40B4-BE49-F238E27FC236}">
                <a16:creationId xmlns:a16="http://schemas.microsoft.com/office/drawing/2014/main" id="{7601FCDF-582A-1CB6-FA0C-528ACBFEC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7166" y="4253982"/>
            <a:ext cx="1490932" cy="1490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170FADDC-1080-7E1D-2090-88C01E54E0E3}"/>
              </a:ext>
            </a:extLst>
          </p:cNvPr>
          <p:cNvSpPr txBox="1"/>
          <p:nvPr/>
        </p:nvSpPr>
        <p:spPr>
          <a:xfrm>
            <a:off x="6294967" y="2380137"/>
            <a:ext cx="5771073" cy="1456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000" indent="-306000">
              <a:spcBef>
                <a:spcPts val="432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hu-HU" sz="2400" dirty="0"/>
              <a:t>Tudásmegosztás és Dokumentáció</a:t>
            </a:r>
          </a:p>
          <a:p>
            <a:pPr marL="342000" indent="-306000">
              <a:spcBef>
                <a:spcPts val="432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hu-HU" sz="2400" dirty="0"/>
              <a:t>Jogosultságkezelés</a:t>
            </a:r>
          </a:p>
          <a:p>
            <a:pPr marL="342000" indent="-306000">
              <a:spcBef>
                <a:spcPts val="432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hu-HU" sz="2400" dirty="0"/>
              <a:t>Branching (Ágak Kezelése)</a:t>
            </a:r>
          </a:p>
        </p:txBody>
      </p:sp>
    </p:spTree>
    <p:extLst>
      <p:ext uri="{BB962C8B-B14F-4D97-AF65-F5344CB8AC3E}">
        <p14:creationId xmlns:p14="http://schemas.microsoft.com/office/powerpoint/2010/main" val="3651033730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F3F9A6-7B7F-7481-68DF-7B2FE7BDC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Windows és Linux Szerver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9FDB68-DD8A-EB12-BB1B-A7A0730B43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58343" y="1823757"/>
            <a:ext cx="5064665" cy="2934441"/>
          </a:xfrm>
        </p:spPr>
        <p:txBody>
          <a:bodyPr>
            <a:normAutofit lnSpcReduction="10000"/>
          </a:bodyPr>
          <a:lstStyle/>
          <a:p>
            <a:pPr algn="ctr"/>
            <a:r>
              <a:rPr lang="hu-HU" dirty="0"/>
              <a:t>DHCP</a:t>
            </a:r>
          </a:p>
          <a:p>
            <a:pPr algn="ctr"/>
            <a:r>
              <a:rPr lang="hu-HU" dirty="0"/>
              <a:t>DNS</a:t>
            </a:r>
          </a:p>
          <a:p>
            <a:pPr algn="ctr"/>
            <a:r>
              <a:rPr lang="hu-HU" dirty="0"/>
              <a:t>IIS</a:t>
            </a:r>
          </a:p>
          <a:p>
            <a:pPr algn="ctr"/>
            <a:r>
              <a:rPr lang="hu-HU" dirty="0"/>
              <a:t>Active-Directory</a:t>
            </a:r>
          </a:p>
          <a:p>
            <a:pPr algn="ctr"/>
            <a:r>
              <a:rPr lang="hu-HU" dirty="0"/>
              <a:t>Printer Szerver</a:t>
            </a:r>
          </a:p>
          <a:p>
            <a:pPr algn="ctr"/>
            <a:r>
              <a:rPr lang="hu-HU" dirty="0"/>
              <a:t>Backup Szerver</a:t>
            </a:r>
          </a:p>
          <a:p>
            <a:pPr algn="ctr"/>
            <a:r>
              <a:rPr lang="hu-HU" dirty="0"/>
              <a:t>Group Policy Management</a:t>
            </a:r>
          </a:p>
        </p:txBody>
      </p:sp>
      <p:pic>
        <p:nvPicPr>
          <p:cNvPr id="1026" name="Picture 2" descr="windows-server-logo">
            <a:extLst>
              <a:ext uri="{FF2B5EF4-FFF2-40B4-BE49-F238E27FC236}">
                <a16:creationId xmlns:a16="http://schemas.microsoft.com/office/drawing/2014/main" id="{DD02D43E-5EC7-5B2A-6DC0-0BFFCEBCF1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5462" y="4594508"/>
            <a:ext cx="4037162" cy="2134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Tartalom helye 16" descr="A képen művészet, kör, Grafika, Színesség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1C049FE0-AFFE-C61A-1737-BD2302C8A06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7434" y="4594508"/>
            <a:ext cx="1951570" cy="2134754"/>
          </a:xfrm>
        </p:spPr>
      </p:pic>
    </p:spTree>
    <p:extLst>
      <p:ext uri="{BB962C8B-B14F-4D97-AF65-F5344CB8AC3E}">
        <p14:creationId xmlns:p14="http://schemas.microsoft.com/office/powerpoint/2010/main" val="4268629342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817A90-70AB-88FD-8997-FAE17BD06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Egyéb </a:t>
            </a:r>
            <a:r>
              <a:rPr lang="hu-HU" dirty="0">
                <a:solidFill>
                  <a:schemeClr val="tx1"/>
                </a:solidFill>
              </a:rPr>
              <a:t>Szoftverek</a:t>
            </a:r>
            <a:r>
              <a:rPr lang="hu-HU" dirty="0"/>
              <a:t> és Eszközök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13F8569-CD79-F84A-F95A-B3B5D3C947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96210" y="2235546"/>
            <a:ext cx="9955488" cy="34096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i="0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Discord</a:t>
            </a: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Csapatkommunikáció.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Google Drive: Dokumentumkezelés és tárolás.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OBS </a:t>
            </a:r>
            <a:r>
              <a:rPr kumimoji="0" lang="hu-HU" altLang="hu-HU" sz="2800" i="0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Studio</a:t>
            </a: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Nyersanyagok rögzítése.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i="0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DaVinci</a:t>
            </a: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hu-HU" altLang="hu-HU" sz="2800" i="0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Resolve</a:t>
            </a:r>
            <a:r>
              <a:rPr kumimoji="0" lang="hu-HU" altLang="hu-HU" sz="2800" i="0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Utómunka és videóvágás.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884EBEC-911B-91FB-A5F1-36ABE73D8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9114" y="1894647"/>
            <a:ext cx="1476688" cy="1476688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9878442B-F701-A822-7B5D-4B954FCCDC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9761" y="2235546"/>
            <a:ext cx="2792239" cy="2792239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8EE2C5E-3331-3575-CA74-F9363DFEA1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9114" y="3712234"/>
            <a:ext cx="1737786" cy="1737786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AE86E2E1-76D5-1E44-1EC4-0D73A5812C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6987" y="4776304"/>
            <a:ext cx="1737785" cy="1737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133176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57AB2B2-57D3-A109-613B-792764AA5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tx1"/>
                </a:solidFill>
              </a:rPr>
              <a:t>Munkamegosztás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A736794A-A1C3-1C84-3D27-0ADA8C681D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680"/>
          <a:stretch/>
        </p:blipFill>
        <p:spPr>
          <a:xfrm>
            <a:off x="991783" y="1803628"/>
            <a:ext cx="10197786" cy="4562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631734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F14126-DC72-2F50-D80B-DDD36B6568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sz="7200" dirty="0"/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4284673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la">
  <a:themeElements>
    <a:clrScheme name="Pala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Pala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l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TM04033929[[fn=Pala]]</Template>
  <TotalTime>462</TotalTime>
  <Words>2083</Words>
  <Application>Microsoft Office PowerPoint</Application>
  <PresentationFormat>Szélesvásznú</PresentationFormat>
  <Paragraphs>143</Paragraphs>
  <Slides>21</Slides>
  <Notes>19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21</vt:i4>
      </vt:variant>
    </vt:vector>
  </HeadingPairs>
  <TitlesOfParts>
    <vt:vector size="27" baseType="lpstr">
      <vt:lpstr>Aptos</vt:lpstr>
      <vt:lpstr>Bahnschrift SemiBold</vt:lpstr>
      <vt:lpstr>Calisto MT</vt:lpstr>
      <vt:lpstr>Wingdings</vt:lpstr>
      <vt:lpstr>Wingdings 2</vt:lpstr>
      <vt:lpstr>Pala</vt:lpstr>
      <vt:lpstr>Shadowhawk-Fort</vt:lpstr>
      <vt:lpstr>Bemutatkozó</vt:lpstr>
      <vt:lpstr>Csapatunk</vt:lpstr>
      <vt:lpstr>Teljes hálózat felépítése</vt:lpstr>
      <vt:lpstr>Oktatás</vt:lpstr>
      <vt:lpstr>Iroda</vt:lpstr>
      <vt:lpstr>Diszpécser</vt:lpstr>
      <vt:lpstr>Szállás</vt:lpstr>
      <vt:lpstr>Porta</vt:lpstr>
      <vt:lpstr>Egészségügy</vt:lpstr>
      <vt:lpstr>Raktár</vt:lpstr>
      <vt:lpstr>Hangárok</vt:lpstr>
      <vt:lpstr>Admin Szoba</vt:lpstr>
      <vt:lpstr>Parancsnoki Központ</vt:lpstr>
      <vt:lpstr>Internet Szolgáltató (ISP)</vt:lpstr>
      <vt:lpstr>Tesztelés</vt:lpstr>
      <vt:lpstr>Jira, Scrum &amp; GitHub</vt:lpstr>
      <vt:lpstr>Windows és Linux Szerver</vt:lpstr>
      <vt:lpstr>Egyéb Szoftverek és Eszközök</vt:lpstr>
      <vt:lpstr>Munkamegosztás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Patrik Grecz</dc:creator>
  <cp:lastModifiedBy>Patrik Grecz</cp:lastModifiedBy>
  <cp:revision>25</cp:revision>
  <dcterms:created xsi:type="dcterms:W3CDTF">2026-01-06T09:33:17Z</dcterms:created>
  <dcterms:modified xsi:type="dcterms:W3CDTF">2026-02-22T18:41:32Z</dcterms:modified>
</cp:coreProperties>
</file>