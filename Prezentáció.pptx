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62" r:id="rId14"/>
    <p:sldId id="261" r:id="rId15"/>
    <p:sldId id="274" r:id="rId16"/>
    <p:sldId id="273" r:id="rId17"/>
    <p:sldId id="271" r:id="rId18"/>
    <p:sldId id="276" r:id="rId19"/>
    <p:sldId id="275" r:id="rId20"/>
    <p:sldId id="272" r:id="rId21"/>
    <p:sldId id="25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39C7-3761-4B48-AAEE-5F77047FB7CA}" type="datetimeFigureOut">
              <a:rPr lang="hu-HU" smtClean="0"/>
              <a:t>2026. 02. 17.</a:t>
            </a:fld>
            <a:endParaRPr lang="hu-H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C820A-7C3B-46EA-98BF-CCC53CEA49CA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70282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39C7-3761-4B48-AAEE-5F77047FB7CA}" type="datetimeFigureOut">
              <a:rPr lang="hu-HU" smtClean="0"/>
              <a:t>2026. 02. 17.</a:t>
            </a:fld>
            <a:endParaRPr lang="hu-H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C820A-7C3B-46EA-98BF-CCC53CEA49CA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195743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39C7-3761-4B48-AAEE-5F77047FB7CA}" type="datetimeFigureOut">
              <a:rPr lang="hu-HU" smtClean="0"/>
              <a:t>2026. 02. 17.</a:t>
            </a:fld>
            <a:endParaRPr lang="hu-H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C820A-7C3B-46EA-98BF-CCC53CEA49CA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38908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39C7-3761-4B48-AAEE-5F77047FB7CA}" type="datetimeFigureOut">
              <a:rPr lang="hu-HU" smtClean="0"/>
              <a:t>2026. 02. 17.</a:t>
            </a:fld>
            <a:endParaRPr lang="hu-H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C820A-7C3B-46EA-98BF-CCC53CEA49CA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884979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39C7-3761-4B48-AAEE-5F77047FB7CA}" type="datetimeFigureOut">
              <a:rPr lang="hu-HU" smtClean="0"/>
              <a:t>2026. 02. 17.</a:t>
            </a:fld>
            <a:endParaRPr lang="hu-H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C820A-7C3B-46EA-98BF-CCC53CEA49CA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28778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39C7-3761-4B48-AAEE-5F77047FB7CA}" type="datetimeFigureOut">
              <a:rPr lang="hu-HU" smtClean="0"/>
              <a:t>2026. 02. 17.</a:t>
            </a:fld>
            <a:endParaRPr lang="hu-H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C820A-7C3B-46EA-98BF-CCC53CEA49CA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96520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39C7-3761-4B48-AAEE-5F77047FB7CA}" type="datetimeFigureOut">
              <a:rPr lang="hu-HU" smtClean="0"/>
              <a:t>2026. 02. 17.</a:t>
            </a:fld>
            <a:endParaRPr lang="hu-H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C820A-7C3B-46EA-98BF-CCC53CEA49CA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744869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39C7-3761-4B48-AAEE-5F77047FB7CA}" type="datetimeFigureOut">
              <a:rPr lang="hu-HU" smtClean="0"/>
              <a:t>2026. 02. 17.</a:t>
            </a:fld>
            <a:endParaRPr lang="hu-H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C820A-7C3B-46EA-98BF-CCC53CEA49CA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640535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dirty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39C7-3761-4B48-AAEE-5F77047FB7CA}" type="datetimeFigureOut">
              <a:rPr lang="hu-HU" smtClean="0"/>
              <a:t>2026. 02. 17.</a:t>
            </a:fld>
            <a:endParaRPr lang="hu-H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C820A-7C3B-46EA-98BF-CCC53CEA49CA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30066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39C7-3761-4B48-AAEE-5F77047FB7CA}" type="datetimeFigureOut">
              <a:rPr lang="hu-HU" smtClean="0"/>
              <a:t>2026. 02. 17.</a:t>
            </a:fld>
            <a:endParaRPr lang="hu-H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C820A-7C3B-46EA-98BF-CCC53CEA49CA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0161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39C7-3761-4B48-AAEE-5F77047FB7CA}" type="datetimeFigureOut">
              <a:rPr lang="hu-HU" smtClean="0"/>
              <a:t>2026. 02. 17.</a:t>
            </a:fld>
            <a:endParaRPr lang="hu-H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C820A-7C3B-46EA-98BF-CCC53CEA49CA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15587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39C7-3761-4B48-AAEE-5F77047FB7CA}" type="datetimeFigureOut">
              <a:rPr lang="hu-HU" smtClean="0"/>
              <a:t>2026. 02. 17.</a:t>
            </a:fld>
            <a:endParaRPr lang="hu-H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C820A-7C3B-46EA-98BF-CCC53CEA49CA}" type="slidenum">
              <a:rPr lang="hu-HU" smtClean="0"/>
              <a:t>‹#›</a:t>
            </a:fld>
            <a:endParaRPr lang="hu-HU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1826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39C7-3761-4B48-AAEE-5F77047FB7CA}" type="datetimeFigureOut">
              <a:rPr lang="hu-HU" smtClean="0"/>
              <a:t>2026. 02. 17.</a:t>
            </a:fld>
            <a:endParaRPr lang="hu-H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C820A-7C3B-46EA-98BF-CCC53CEA49CA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6061311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39C7-3761-4B48-AAEE-5F77047FB7CA}" type="datetimeFigureOut">
              <a:rPr lang="hu-HU" smtClean="0"/>
              <a:t>2026. 02. 17.</a:t>
            </a:fld>
            <a:endParaRPr lang="hu-H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C820A-7C3B-46EA-98BF-CCC53CEA49CA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3003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dirty="0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dirty="0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dirty="0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39C7-3761-4B48-AAEE-5F77047FB7CA}" type="datetimeFigureOut">
              <a:rPr lang="hu-HU" smtClean="0"/>
              <a:t>2026. 02. 17.</a:t>
            </a:fld>
            <a:endParaRPr lang="hu-H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C820A-7C3B-46EA-98BF-CCC53CEA49CA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82032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39C7-3761-4B48-AAEE-5F77047FB7CA}" type="datetimeFigureOut">
              <a:rPr lang="hu-HU" smtClean="0"/>
              <a:t>2026. 02. 17.</a:t>
            </a:fld>
            <a:endParaRPr lang="hu-H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C820A-7C3B-46EA-98BF-CCC53CEA49CA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7710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39C7-3761-4B48-AAEE-5F77047FB7CA}" type="datetimeFigureOut">
              <a:rPr lang="hu-HU" smtClean="0"/>
              <a:t>2026. 02. 17.</a:t>
            </a:fld>
            <a:endParaRPr lang="hu-H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C820A-7C3B-46EA-98BF-CCC53CEA49CA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03705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25B39C7-3761-4B48-AAEE-5F77047FB7CA}" type="datetimeFigureOut">
              <a:rPr lang="hu-HU" smtClean="0"/>
              <a:t>2026. 02. 17.</a:t>
            </a:fld>
            <a:endParaRPr lang="hu-H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hu-H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1EC820A-7C3B-46EA-98BF-CCC53CEA49CA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085440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247D3E1-6582-7927-7215-16F780075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/>
          <a:lstStyle/>
          <a:p>
            <a:r>
              <a:rPr lang="hu-HU" dirty="0">
                <a:solidFill>
                  <a:schemeClr val="tx1"/>
                </a:solidFill>
              </a:rPr>
              <a:t>Vanguard-Network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62AD4B9-0DC3-159F-A608-C34BBD29AC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72860" y="6422876"/>
            <a:ext cx="8962844" cy="435124"/>
          </a:xfrm>
        </p:spPr>
        <p:txBody>
          <a:bodyPr>
            <a:noAutofit/>
          </a:bodyPr>
          <a:lstStyle/>
          <a:p>
            <a:r>
              <a:rPr lang="hu-HU" sz="2400" dirty="0"/>
              <a:t>Készítette: Nyilas Marcell Gergely és Grecz Patrik Károly</a:t>
            </a:r>
          </a:p>
        </p:txBody>
      </p:sp>
    </p:spTree>
    <p:extLst>
      <p:ext uri="{BB962C8B-B14F-4D97-AF65-F5344CB8AC3E}">
        <p14:creationId xmlns:p14="http://schemas.microsoft.com/office/powerpoint/2010/main" val="2619129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DC1072-BBD7-9A9D-A23A-53B6DB98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Bemutatkozó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C81372B-CC2A-6DB9-0AFE-01E2B7E71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2400" dirty="0">
                <a:solidFill>
                  <a:schemeClr val="tx1"/>
                </a:solidFill>
              </a:rPr>
              <a:t>Nevünk: Vanguard-Network</a:t>
            </a:r>
          </a:p>
          <a:p>
            <a:r>
              <a:rPr lang="hu-HU" sz="2400" dirty="0">
                <a:solidFill>
                  <a:schemeClr val="tx1"/>
                </a:solidFill>
              </a:rPr>
              <a:t>Cég: Shadowhawk fort</a:t>
            </a:r>
          </a:p>
          <a:p>
            <a:r>
              <a:rPr lang="hu-HU" sz="2400" dirty="0">
                <a:solidFill>
                  <a:schemeClr val="tx1"/>
                </a:solidFill>
              </a:rPr>
              <a:t>Szakterület: hálózatok, rendszerek, digitális infrastruktúra </a:t>
            </a:r>
          </a:p>
          <a:p>
            <a:r>
              <a:rPr lang="hu-HU" sz="2400" dirty="0">
                <a:solidFill>
                  <a:schemeClr val="tx1"/>
                </a:solidFill>
              </a:rPr>
              <a:t>Cél: stabil, biztonságos és költséghatékony hálózatok kiépítése</a:t>
            </a:r>
          </a:p>
          <a:p>
            <a:endParaRPr lang="hu-HU" dirty="0"/>
          </a:p>
          <a:p>
            <a:endParaRPr lang="hu-HU" dirty="0"/>
          </a:p>
        </p:txBody>
      </p:sp>
      <p:pic>
        <p:nvPicPr>
          <p:cNvPr id="1026" name="Picture 2" descr="Shadowhawk Torches LED Super Bright, 500000 Lumens Rechargeable LED ...">
            <a:extLst>
              <a:ext uri="{FF2B5EF4-FFF2-40B4-BE49-F238E27FC236}">
                <a16:creationId xmlns:a16="http://schemas.microsoft.com/office/drawing/2014/main" id="{4F626314-7E95-887A-9DDE-209CE3409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1120" y="4494176"/>
            <a:ext cx="3333750" cy="1666875"/>
          </a:xfrm>
          <a:prstGeom prst="rect">
            <a:avLst/>
          </a:prstGeom>
          <a:noFill/>
          <a:effectLst>
            <a:softEdge rad="381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Kép 5" descr="A képen embléma, Grafika, szimbólum, clipart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7B7CDF07-1723-E4C4-050B-FA13F460CF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" t="8932" b="8932"/>
          <a:stretch/>
        </p:blipFill>
        <p:spPr>
          <a:xfrm>
            <a:off x="1578634" y="4494175"/>
            <a:ext cx="3042247" cy="1666875"/>
          </a:xfrm>
          <a:prstGeom prst="rect">
            <a:avLst/>
          </a:prstGeom>
          <a:effectLst>
            <a:softEdge rad="25400"/>
          </a:effectLst>
        </p:spPr>
      </p:pic>
    </p:spTree>
    <p:extLst>
      <p:ext uri="{BB962C8B-B14F-4D97-AF65-F5344CB8AC3E}">
        <p14:creationId xmlns:p14="http://schemas.microsoft.com/office/powerpoint/2010/main" val="308921567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DC1072-BBD7-9A9D-A23A-53B6DB98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Csapatunk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C81372B-CC2A-6DB9-0AFE-01E2B7E71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25747"/>
            <a:ext cx="10353762" cy="4058751"/>
          </a:xfrm>
        </p:spPr>
        <p:txBody>
          <a:bodyPr>
            <a:normAutofit/>
          </a:bodyPr>
          <a:lstStyle/>
          <a:p>
            <a:r>
              <a:rPr lang="hu-HU" sz="2400" dirty="0">
                <a:solidFill>
                  <a:schemeClr val="tx1"/>
                </a:solidFill>
              </a:rPr>
              <a:t>Nyilas Marcell Gergely (PM)</a:t>
            </a:r>
            <a:endParaRPr lang="hu-HU" sz="2200" dirty="0">
              <a:solidFill>
                <a:schemeClr val="tx1"/>
              </a:solidFill>
            </a:endParaRPr>
          </a:p>
          <a:p>
            <a:pPr lvl="1"/>
            <a:r>
              <a:rPr lang="hu-HU" sz="2200" dirty="0">
                <a:solidFill>
                  <a:schemeClr val="tx1"/>
                </a:solidFill>
              </a:rPr>
              <a:t>Feladatok követése, Jira</a:t>
            </a:r>
          </a:p>
          <a:p>
            <a:pPr lvl="1"/>
            <a:r>
              <a:rPr lang="hu-HU" sz="2200" dirty="0">
                <a:solidFill>
                  <a:schemeClr val="tx1"/>
                </a:solidFill>
              </a:rPr>
              <a:t>Hálózati architektúra tervezése</a:t>
            </a:r>
          </a:p>
          <a:p>
            <a:pPr lvl="1"/>
            <a:r>
              <a:rPr lang="hu-HU" sz="2200" dirty="0">
                <a:solidFill>
                  <a:schemeClr val="tx1"/>
                </a:solidFill>
              </a:rPr>
              <a:t>Tesztelés</a:t>
            </a:r>
          </a:p>
          <a:p>
            <a:r>
              <a:rPr lang="hu-HU" sz="2400" dirty="0">
                <a:solidFill>
                  <a:schemeClr val="tx1"/>
                </a:solidFill>
              </a:rPr>
              <a:t>Grecz Patrik Károly (PM Support)</a:t>
            </a:r>
          </a:p>
          <a:p>
            <a:pPr lvl="1"/>
            <a:r>
              <a:rPr lang="hu-HU" sz="2200" dirty="0">
                <a:solidFill>
                  <a:schemeClr val="tx1"/>
                </a:solidFill>
              </a:rPr>
              <a:t>Eszközök konfigurálása</a:t>
            </a:r>
          </a:p>
          <a:p>
            <a:pPr lvl="1"/>
            <a:r>
              <a:rPr lang="hu-HU" sz="2200" dirty="0">
                <a:solidFill>
                  <a:schemeClr val="tx1"/>
                </a:solidFill>
              </a:rPr>
              <a:t>Projektbemutató összeállítása</a:t>
            </a:r>
          </a:p>
          <a:p>
            <a:pPr lvl="1"/>
            <a:r>
              <a:rPr lang="hu-HU" sz="2200" dirty="0">
                <a:solidFill>
                  <a:schemeClr val="tx1"/>
                </a:solidFill>
              </a:rPr>
              <a:t>Dokumentáció</a:t>
            </a:r>
          </a:p>
          <a:p>
            <a:pPr lvl="1"/>
            <a:endParaRPr lang="hu-HU" sz="2200" dirty="0">
              <a:solidFill>
                <a:schemeClr val="tx1"/>
              </a:solidFill>
            </a:endParaRPr>
          </a:p>
          <a:p>
            <a:pPr lvl="1"/>
            <a:endParaRPr lang="hu-HU" sz="2200" dirty="0">
              <a:solidFill>
                <a:schemeClr val="tx1"/>
              </a:solidFill>
            </a:endParaRPr>
          </a:p>
          <a:p>
            <a:pPr marL="450000" lvl="1" indent="0">
              <a:buNone/>
            </a:pPr>
            <a:endParaRPr lang="hu-HU" sz="2200" dirty="0">
              <a:solidFill>
                <a:schemeClr val="tx1"/>
              </a:solidFill>
            </a:endParaRPr>
          </a:p>
          <a:p>
            <a:endParaRPr lang="hu-H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915439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DC1072-BBD7-9A9D-A23A-53B6DB981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359434"/>
            <a:ext cx="10353762" cy="970450"/>
          </a:xfrm>
        </p:spPr>
        <p:txBody>
          <a:bodyPr/>
          <a:lstStyle/>
          <a:p>
            <a:pPr algn="ctr"/>
            <a:r>
              <a:rPr lang="hu-HU" dirty="0"/>
              <a:t>Teljes hálózat felépítése</a:t>
            </a:r>
          </a:p>
        </p:txBody>
      </p:sp>
      <p:pic>
        <p:nvPicPr>
          <p:cNvPr id="5" name="drawing">
            <a:extLst>
              <a:ext uri="{FF2B5EF4-FFF2-40B4-BE49-F238E27FC236}">
                <a16:creationId xmlns:a16="http://schemas.microsoft.com/office/drawing/2014/main" id="{6A54291B-9791-8EDC-56E8-DD004BCF2E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0161" y="1329884"/>
            <a:ext cx="7539487" cy="536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27308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DC1072-BBD7-9A9D-A23A-53B6DB98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Oktatás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C81372B-CC2A-6DB9-0AFE-01E2B7E71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lnSpcReduction="10000"/>
          </a:bodyPr>
          <a:lstStyle/>
          <a:p>
            <a:r>
              <a:rPr lang="hu-HU" sz="2800" dirty="0">
                <a:solidFill>
                  <a:schemeClr val="tx1"/>
                </a:solidFill>
              </a:rPr>
              <a:t>IPv4</a:t>
            </a:r>
          </a:p>
          <a:p>
            <a:r>
              <a:rPr lang="hu-HU" sz="2800" dirty="0">
                <a:solidFill>
                  <a:schemeClr val="tx1"/>
                </a:solidFill>
              </a:rPr>
              <a:t>Vlan</a:t>
            </a:r>
          </a:p>
          <a:p>
            <a:r>
              <a:rPr lang="hu-HU" sz="2800" dirty="0">
                <a:solidFill>
                  <a:schemeClr val="tx1"/>
                </a:solidFill>
              </a:rPr>
              <a:t>DHCP</a:t>
            </a:r>
          </a:p>
          <a:p>
            <a:r>
              <a:rPr lang="hu-HU" sz="2800" dirty="0">
                <a:solidFill>
                  <a:schemeClr val="tx1"/>
                </a:solidFill>
              </a:rPr>
              <a:t>Wifi</a:t>
            </a:r>
          </a:p>
          <a:p>
            <a:pPr lvl="1"/>
            <a:r>
              <a:rPr lang="hu-HU" sz="2800" dirty="0">
                <a:solidFill>
                  <a:schemeClr val="tx1"/>
                </a:solidFill>
              </a:rPr>
              <a:t>2,4 GHz </a:t>
            </a:r>
          </a:p>
          <a:p>
            <a:pPr lvl="1"/>
            <a:r>
              <a:rPr lang="hu-HU" sz="2800" dirty="0">
                <a:solidFill>
                  <a:schemeClr val="tx1"/>
                </a:solidFill>
              </a:rPr>
              <a:t>5 GHz</a:t>
            </a:r>
          </a:p>
          <a:p>
            <a:r>
              <a:rPr lang="hu-HU" sz="3000" dirty="0">
                <a:solidFill>
                  <a:schemeClr val="tx1"/>
                </a:solidFill>
              </a:rPr>
              <a:t>Dinamikus routing</a:t>
            </a:r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E3E85D75-BD78-766C-9EA7-CA87D9DC2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219" y="1691484"/>
            <a:ext cx="5003322" cy="414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50332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DC1072-BBD7-9A9D-A23A-53B6DB98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Iroda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C81372B-CC2A-6DB9-0AFE-01E2B7E71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7"/>
            <a:ext cx="10353762" cy="4720111"/>
          </a:xfrm>
        </p:spPr>
        <p:txBody>
          <a:bodyPr anchor="ctr"/>
          <a:lstStyle/>
          <a:p>
            <a:r>
              <a:rPr lang="hu-HU" sz="2800" dirty="0">
                <a:solidFill>
                  <a:schemeClr val="tx1"/>
                </a:solidFill>
              </a:rPr>
              <a:t>Pénzügy</a:t>
            </a:r>
          </a:p>
          <a:p>
            <a:pPr lvl="1"/>
            <a:r>
              <a:rPr lang="hu-HU" sz="2800" dirty="0">
                <a:solidFill>
                  <a:schemeClr val="tx1"/>
                </a:solidFill>
              </a:rPr>
              <a:t>IPv4</a:t>
            </a:r>
          </a:p>
          <a:p>
            <a:pPr lvl="1"/>
            <a:r>
              <a:rPr lang="hu-HU" sz="2800" dirty="0">
                <a:solidFill>
                  <a:schemeClr val="tx1"/>
                </a:solidFill>
              </a:rPr>
              <a:t>ACL</a:t>
            </a:r>
          </a:p>
          <a:p>
            <a:r>
              <a:rPr lang="hu-HU" sz="2800" dirty="0">
                <a:solidFill>
                  <a:schemeClr val="tx1"/>
                </a:solidFill>
              </a:rPr>
              <a:t>HR</a:t>
            </a:r>
          </a:p>
          <a:p>
            <a:pPr lvl="1"/>
            <a:r>
              <a:rPr lang="hu-HU" sz="2800" dirty="0">
                <a:solidFill>
                  <a:schemeClr val="tx1"/>
                </a:solidFill>
              </a:rPr>
              <a:t>IPv4</a:t>
            </a:r>
          </a:p>
          <a:p>
            <a:r>
              <a:rPr lang="hu-HU" sz="3000" dirty="0">
                <a:solidFill>
                  <a:schemeClr val="tx1"/>
                </a:solidFill>
              </a:rPr>
              <a:t>Dinamikus routing</a:t>
            </a:r>
          </a:p>
          <a:p>
            <a:endParaRPr lang="hu-HU" dirty="0"/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98B8DCBF-EB81-CF70-77B7-A6530E19F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451" y="1932768"/>
            <a:ext cx="4725059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34947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DC1072-BBD7-9A9D-A23A-53B6DB98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Diszpécser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C81372B-CC2A-6DB9-0AFE-01E2B7E71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hu-HU" sz="2800" dirty="0">
                <a:solidFill>
                  <a:schemeClr val="tx1"/>
                </a:solidFill>
              </a:rPr>
              <a:t>IPv4</a:t>
            </a:r>
          </a:p>
          <a:p>
            <a:r>
              <a:rPr lang="hu-HU" sz="2800" dirty="0">
                <a:solidFill>
                  <a:schemeClr val="tx1"/>
                </a:solidFill>
              </a:rPr>
              <a:t>VPN</a:t>
            </a:r>
          </a:p>
          <a:p>
            <a:r>
              <a:rPr lang="hu-HU" sz="2800" dirty="0">
                <a:solidFill>
                  <a:schemeClr val="tx1"/>
                </a:solidFill>
              </a:rPr>
              <a:t>Dinamikus routing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9E4DCF32-252C-96A7-68EE-6F7524666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5214" y="1942185"/>
            <a:ext cx="4010311" cy="363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52718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DC1072-BBD7-9A9D-A23A-53B6DB98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Szállás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C81372B-CC2A-6DB9-0AFE-01E2B7E71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633845"/>
          </a:xfrm>
        </p:spPr>
        <p:txBody>
          <a:bodyPr anchor="ctr">
            <a:normAutofit/>
          </a:bodyPr>
          <a:lstStyle/>
          <a:p>
            <a:r>
              <a:rPr lang="hu-HU" sz="2800" dirty="0">
                <a:solidFill>
                  <a:schemeClr val="tx1"/>
                </a:solidFill>
              </a:rPr>
              <a:t>IPv4</a:t>
            </a:r>
          </a:p>
          <a:p>
            <a:r>
              <a:rPr lang="hu-HU" sz="2800" dirty="0">
                <a:solidFill>
                  <a:schemeClr val="tx1"/>
                </a:solidFill>
              </a:rPr>
              <a:t>DHCP</a:t>
            </a:r>
          </a:p>
          <a:p>
            <a:r>
              <a:rPr lang="hu-HU" sz="2800" dirty="0">
                <a:solidFill>
                  <a:schemeClr val="tx1"/>
                </a:solidFill>
              </a:rPr>
              <a:t>WiFi</a:t>
            </a:r>
          </a:p>
          <a:p>
            <a:pPr lvl="1"/>
            <a:r>
              <a:rPr lang="hu-HU" sz="2800" dirty="0">
                <a:solidFill>
                  <a:schemeClr val="tx1"/>
                </a:solidFill>
              </a:rPr>
              <a:t>2,4 GHz</a:t>
            </a:r>
          </a:p>
          <a:p>
            <a:pPr lvl="1"/>
            <a:r>
              <a:rPr lang="hu-HU" sz="2800" dirty="0">
                <a:solidFill>
                  <a:schemeClr val="tx1"/>
                </a:solidFill>
              </a:rPr>
              <a:t>5 GHz</a:t>
            </a:r>
          </a:p>
          <a:p>
            <a:r>
              <a:rPr lang="hu-HU" sz="3000" dirty="0">
                <a:solidFill>
                  <a:schemeClr val="tx1"/>
                </a:solidFill>
              </a:rPr>
              <a:t>Dinamikus routing</a:t>
            </a:r>
          </a:p>
          <a:p>
            <a:endParaRPr lang="hu-HU" dirty="0"/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0994D685-F3DB-8A8E-7013-816740BAF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221" y="2012068"/>
            <a:ext cx="4519549" cy="349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623263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DC1072-BBD7-9A9D-A23A-53B6DB98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Porta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C81372B-CC2A-6DB9-0AFE-01E2B7E71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hu-HU" sz="2800" dirty="0">
                <a:solidFill>
                  <a:schemeClr val="tx1"/>
                </a:solidFill>
              </a:rPr>
              <a:t>IPv4</a:t>
            </a:r>
          </a:p>
          <a:p>
            <a:r>
              <a:rPr lang="hu-HU" sz="2800" dirty="0">
                <a:solidFill>
                  <a:schemeClr val="tx1"/>
                </a:solidFill>
              </a:rPr>
              <a:t>DHCP</a:t>
            </a:r>
          </a:p>
          <a:p>
            <a:r>
              <a:rPr lang="hu-HU" sz="2800" dirty="0">
                <a:solidFill>
                  <a:schemeClr val="tx1"/>
                </a:solidFill>
              </a:rPr>
              <a:t>IoT szerver</a:t>
            </a:r>
          </a:p>
          <a:p>
            <a:r>
              <a:rPr lang="hu-HU" sz="2800" dirty="0">
                <a:solidFill>
                  <a:schemeClr val="tx1"/>
                </a:solidFill>
              </a:rPr>
              <a:t>IoT eszköz</a:t>
            </a:r>
          </a:p>
          <a:p>
            <a:r>
              <a:rPr lang="hu-HU" sz="2800" dirty="0">
                <a:solidFill>
                  <a:schemeClr val="tx1"/>
                </a:solidFill>
              </a:rPr>
              <a:t>Dinamikus routing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745618C3-4318-01DF-B065-2D8F8B40A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1774" y="2485893"/>
            <a:ext cx="4782217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06573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733429F-8CA7-3B9E-04F1-FABA49AD4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Egészségügy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2BB3668-BA45-3E6B-6746-01BB1EB39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hu-HU" sz="2800" dirty="0">
                <a:solidFill>
                  <a:schemeClr val="tx1"/>
                </a:solidFill>
              </a:rPr>
              <a:t>IPv4</a:t>
            </a:r>
          </a:p>
          <a:p>
            <a:r>
              <a:rPr lang="hu-HU" sz="2800" dirty="0">
                <a:solidFill>
                  <a:schemeClr val="tx1"/>
                </a:solidFill>
              </a:rPr>
              <a:t>Tűzfal</a:t>
            </a:r>
          </a:p>
          <a:p>
            <a:r>
              <a:rPr lang="hu-HU" sz="2800" dirty="0">
                <a:solidFill>
                  <a:schemeClr val="tx1"/>
                </a:solidFill>
              </a:rPr>
              <a:t>Dinamikus routing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BDD73C12-E7BF-6A7F-325E-5DA6E10C8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271" y="1998665"/>
            <a:ext cx="3993037" cy="352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2528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733429F-8CA7-3B9E-04F1-FABA49AD4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Raktár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2BB3668-BA45-3E6B-6746-01BB1EB39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78925" cy="4351338"/>
          </a:xfrm>
        </p:spPr>
        <p:txBody>
          <a:bodyPr anchor="ctr"/>
          <a:lstStyle/>
          <a:p>
            <a:r>
              <a:rPr lang="hu-HU" sz="2800" dirty="0">
                <a:solidFill>
                  <a:schemeClr val="tx1"/>
                </a:solidFill>
              </a:rPr>
              <a:t>IPv4</a:t>
            </a:r>
          </a:p>
          <a:p>
            <a:r>
              <a:rPr lang="hu-HU" sz="2800" dirty="0">
                <a:solidFill>
                  <a:schemeClr val="tx1"/>
                </a:solidFill>
              </a:rPr>
              <a:t>Statikus cím fordítás</a:t>
            </a:r>
          </a:p>
          <a:p>
            <a:r>
              <a:rPr lang="hu-HU" sz="2800" dirty="0">
                <a:solidFill>
                  <a:schemeClr val="tx1"/>
                </a:solidFill>
              </a:rPr>
              <a:t>Dinamikus/Statikus routing</a:t>
            </a:r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39808EC1-4D52-E203-96EA-75A8F7C88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850" y="1825625"/>
            <a:ext cx="4506557" cy="351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64697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733429F-8CA7-3B9E-04F1-FABA49AD4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Hangárok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2BB3668-BA45-3E6B-6746-01BB1EB39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45151" cy="4351338"/>
          </a:xfrm>
        </p:spPr>
        <p:txBody>
          <a:bodyPr anchor="ctr"/>
          <a:lstStyle/>
          <a:p>
            <a:r>
              <a:rPr lang="hu-HU" sz="2800" dirty="0">
                <a:solidFill>
                  <a:schemeClr val="tx1"/>
                </a:solidFill>
              </a:rPr>
              <a:t>IPv4</a:t>
            </a:r>
          </a:p>
          <a:p>
            <a:r>
              <a:rPr lang="hu-HU" sz="2800" dirty="0">
                <a:solidFill>
                  <a:schemeClr val="tx1"/>
                </a:solidFill>
              </a:rPr>
              <a:t>Dinamikus cím forditás</a:t>
            </a:r>
          </a:p>
          <a:p>
            <a:r>
              <a:rPr lang="hu-HU" sz="2800" dirty="0">
                <a:solidFill>
                  <a:schemeClr val="tx1"/>
                </a:solidFill>
              </a:rPr>
              <a:t>IoT szerver</a:t>
            </a:r>
          </a:p>
          <a:p>
            <a:r>
              <a:rPr lang="hu-HU" sz="2800" dirty="0">
                <a:solidFill>
                  <a:schemeClr val="tx1"/>
                </a:solidFill>
              </a:rPr>
              <a:t>IoT eszközök</a:t>
            </a:r>
          </a:p>
          <a:p>
            <a:r>
              <a:rPr lang="hu-HU" sz="2800" dirty="0">
                <a:solidFill>
                  <a:schemeClr val="tx1"/>
                </a:solidFill>
              </a:rPr>
              <a:t>Dinamikus/Statikus routing</a:t>
            </a:r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8C324D5F-CE2C-E882-D7A1-743C1629C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4760" y="2104559"/>
            <a:ext cx="4744033" cy="338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046209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DC1072-BBD7-9A9D-A23A-53B6DB98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 err="1">
                <a:solidFill>
                  <a:schemeClr val="tx1"/>
                </a:solidFill>
              </a:rPr>
              <a:t>Admin</a:t>
            </a:r>
            <a:r>
              <a:rPr lang="hu-HU" dirty="0">
                <a:solidFill>
                  <a:schemeClr val="tx1"/>
                </a:solidFill>
              </a:rPr>
              <a:t> Szoba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C81372B-CC2A-6DB9-0AFE-01E2B7E71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hu-HU" sz="2800" dirty="0">
                <a:solidFill>
                  <a:schemeClr val="tx1"/>
                </a:solidFill>
              </a:rPr>
              <a:t>IPv6</a:t>
            </a:r>
          </a:p>
          <a:p>
            <a:r>
              <a:rPr lang="hu-HU" sz="2800" dirty="0">
                <a:solidFill>
                  <a:schemeClr val="tx1"/>
                </a:solidFill>
              </a:rPr>
              <a:t>Vlan</a:t>
            </a:r>
          </a:p>
          <a:p>
            <a:r>
              <a:rPr lang="hu-HU" sz="2800" dirty="0">
                <a:solidFill>
                  <a:schemeClr val="tx1"/>
                </a:solidFill>
              </a:rPr>
              <a:t>Dinamikus routing</a:t>
            </a:r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B22A7A36-FCBB-F503-8A81-A158C1D33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913" y="2386959"/>
            <a:ext cx="4873891" cy="259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022404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DC1072-BBD7-9A9D-A23A-53B6DB98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Parancsnoki Központ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C81372B-CC2A-6DB9-0AFE-01E2B7E71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hu-HU" sz="2800" dirty="0">
                <a:solidFill>
                  <a:schemeClr val="tx1"/>
                </a:solidFill>
              </a:rPr>
              <a:t>IPv6</a:t>
            </a:r>
          </a:p>
          <a:p>
            <a:r>
              <a:rPr lang="hu-HU" sz="2800" dirty="0">
                <a:solidFill>
                  <a:schemeClr val="tx1"/>
                </a:solidFill>
              </a:rPr>
              <a:t>Vlan</a:t>
            </a:r>
          </a:p>
          <a:p>
            <a:r>
              <a:rPr lang="hu-HU" sz="2800" dirty="0">
                <a:solidFill>
                  <a:schemeClr val="tx1"/>
                </a:solidFill>
              </a:rPr>
              <a:t>Dinamikus routing</a:t>
            </a:r>
          </a:p>
          <a:p>
            <a:endParaRPr lang="hu-HU" dirty="0"/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96BCE332-5837-D730-E67E-DA44C5DAD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265" y="2445176"/>
            <a:ext cx="4582721" cy="263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750508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051D5E0-7F3E-F64F-C53E-2298C0B14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Internet Szolgáltató (ISP)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3A9E23B-BD7B-2EFB-7E01-EFFF31FA9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5487005" cy="4058751"/>
          </a:xfrm>
        </p:spPr>
        <p:txBody>
          <a:bodyPr anchor="ctr"/>
          <a:lstStyle/>
          <a:p>
            <a:r>
              <a:rPr lang="hu-HU" sz="2800" dirty="0"/>
              <a:t>IPv4</a:t>
            </a:r>
          </a:p>
          <a:p>
            <a:r>
              <a:rPr lang="hu-HU" sz="2800" dirty="0"/>
              <a:t>Statikus </a:t>
            </a:r>
            <a:r>
              <a:rPr lang="hu-HU" sz="2800" dirty="0" err="1"/>
              <a:t>rouring</a:t>
            </a:r>
            <a:endParaRPr lang="hu-HU" sz="2800" dirty="0"/>
          </a:p>
          <a:p>
            <a:r>
              <a:rPr lang="hu-HU" sz="2800" dirty="0"/>
              <a:t>NAT</a:t>
            </a:r>
          </a:p>
          <a:p>
            <a:endParaRPr lang="hu-HU" dirty="0"/>
          </a:p>
        </p:txBody>
      </p:sp>
      <p:pic>
        <p:nvPicPr>
          <p:cNvPr id="4" name="drawing">
            <a:extLst>
              <a:ext uri="{FF2B5EF4-FFF2-40B4-BE49-F238E27FC236}">
                <a16:creationId xmlns:a16="http://schemas.microsoft.com/office/drawing/2014/main" id="{F8AC661E-F5A4-530D-926F-33218E0AF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9453" y="2549914"/>
            <a:ext cx="5074425" cy="260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07679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1C7A5AB-43A0-EC8E-7161-0CCEC6666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2" y="207033"/>
            <a:ext cx="10353762" cy="970450"/>
          </a:xfrm>
        </p:spPr>
        <p:txBody>
          <a:bodyPr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Tesztelés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CA298645-273E-8E18-FD22-4043687B0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23" y="1501313"/>
            <a:ext cx="11267554" cy="472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287049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799D836-7FE9-FF64-9969-F039DCFEB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>
                <a:solidFill>
                  <a:schemeClr val="tx1"/>
                </a:solidFill>
                <a:effectLst/>
              </a:rPr>
              <a:t>Jira, Scrum &amp; GitHub</a:t>
            </a:r>
          </a:p>
        </p:txBody>
      </p:sp>
      <p:sp>
        <p:nvSpPr>
          <p:cNvPr id="6" name="Szöveg helye 5">
            <a:extLst>
              <a:ext uri="{FF2B5EF4-FFF2-40B4-BE49-F238E27FC236}">
                <a16:creationId xmlns:a16="http://schemas.microsoft.com/office/drawing/2014/main" id="{CC9E38D2-9DD0-9397-5A1B-02275C3DF4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hu-HU" b="1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Feladat és Projektmenedzsment</a:t>
            </a:r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73CDF1ED-0CD0-9A14-DE6A-32A57B609F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3795" y="2380137"/>
            <a:ext cx="4968421" cy="3411063"/>
          </a:xfrm>
        </p:spPr>
        <p:txBody>
          <a:bodyPr>
            <a:normAutofit/>
          </a:bodyPr>
          <a:lstStyle/>
          <a:p>
            <a:pPr>
              <a:buSzPct val="100000"/>
              <a:buFont typeface="Wingdings" panose="05000000000000000000" pitchFamily="2" charset="2"/>
              <a:buChar char="v"/>
            </a:pPr>
            <a:r>
              <a:rPr lang="hu-HU" sz="2400" dirty="0">
                <a:solidFill>
                  <a:schemeClr val="tx1"/>
                </a:solidFill>
                <a:effectLst/>
              </a:rPr>
              <a:t>Hibakövetés (Bug Tracking)</a:t>
            </a:r>
          </a:p>
          <a:p>
            <a:pPr>
              <a:buSzPct val="100000"/>
              <a:buFont typeface="Wingdings" panose="05000000000000000000" pitchFamily="2" charset="2"/>
              <a:buChar char="v"/>
            </a:pPr>
            <a:r>
              <a:rPr lang="hu-HU" sz="2400" dirty="0">
                <a:solidFill>
                  <a:schemeClr val="tx1"/>
                </a:solidFill>
                <a:effectLst/>
              </a:rPr>
              <a:t>Sprint Menü</a:t>
            </a:r>
          </a:p>
          <a:p>
            <a:pPr>
              <a:buSzPct val="100000"/>
              <a:buFont typeface="Wingdings" panose="05000000000000000000" pitchFamily="2" charset="2"/>
              <a:buChar char="v"/>
            </a:pPr>
            <a:r>
              <a:rPr lang="hu-HU" sz="2400" dirty="0">
                <a:solidFill>
                  <a:schemeClr val="tx1"/>
                </a:solidFill>
                <a:effectLst/>
              </a:rPr>
              <a:t>Tervezés és Jelentéskészítés</a:t>
            </a:r>
          </a:p>
        </p:txBody>
      </p:sp>
      <p:sp>
        <p:nvSpPr>
          <p:cNvPr id="8" name="Szöveg helye 7">
            <a:extLst>
              <a:ext uri="{FF2B5EF4-FFF2-40B4-BE49-F238E27FC236}">
                <a16:creationId xmlns:a16="http://schemas.microsoft.com/office/drawing/2014/main" id="{3EB5E08E-2922-AEDA-11C6-3F5113C256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hu-HU" b="1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Fájlmegosztás és Verziókövetés</a:t>
            </a:r>
          </a:p>
        </p:txBody>
      </p:sp>
      <p:pic>
        <p:nvPicPr>
          <p:cNvPr id="13" name="Tartalom helye 12">
            <a:extLst>
              <a:ext uri="{FF2B5EF4-FFF2-40B4-BE49-F238E27FC236}">
                <a16:creationId xmlns:a16="http://schemas.microsoft.com/office/drawing/2014/main" id="{5A21C73B-637C-6C34-900C-480907ED648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3908710" y="4085668"/>
            <a:ext cx="1703456" cy="1659246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6A7F2AB3-ACC5-1A60-0193-CD9E60FEF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1912" y="4247953"/>
            <a:ext cx="1496961" cy="1496961"/>
          </a:xfrm>
          <a:prstGeom prst="rect">
            <a:avLst/>
          </a:prstGeom>
        </p:spPr>
      </p:pic>
      <p:pic>
        <p:nvPicPr>
          <p:cNvPr id="1026" name="Picture 2" descr="Github Social Network | Kaggle">
            <a:extLst>
              <a:ext uri="{FF2B5EF4-FFF2-40B4-BE49-F238E27FC236}">
                <a16:creationId xmlns:a16="http://schemas.microsoft.com/office/drawing/2014/main" id="{7601FCDF-582A-1CB6-FA0C-528ACBFEC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7166" y="4253982"/>
            <a:ext cx="1490932" cy="1490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170FADDC-1080-7E1D-2090-88C01E54E0E3}"/>
              </a:ext>
            </a:extLst>
          </p:cNvPr>
          <p:cNvSpPr txBox="1"/>
          <p:nvPr/>
        </p:nvSpPr>
        <p:spPr>
          <a:xfrm>
            <a:off x="6294967" y="2380137"/>
            <a:ext cx="5771073" cy="1456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000" indent="-306000">
              <a:spcBef>
                <a:spcPts val="432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hu-HU" sz="2400" dirty="0"/>
              <a:t>Tudásmegosztás és Dokumentáció</a:t>
            </a:r>
          </a:p>
          <a:p>
            <a:pPr marL="342000" indent="-306000">
              <a:spcBef>
                <a:spcPts val="432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hu-HU" sz="2400" dirty="0"/>
              <a:t>Jogosultságkezelés</a:t>
            </a:r>
          </a:p>
          <a:p>
            <a:pPr marL="342000" indent="-306000">
              <a:spcBef>
                <a:spcPts val="432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hu-HU" sz="2400" dirty="0"/>
              <a:t>Branching (Ágak Kezelése)</a:t>
            </a:r>
          </a:p>
        </p:txBody>
      </p:sp>
    </p:spTree>
    <p:extLst>
      <p:ext uri="{BB962C8B-B14F-4D97-AF65-F5344CB8AC3E}">
        <p14:creationId xmlns:p14="http://schemas.microsoft.com/office/powerpoint/2010/main" val="3651033730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EF3F9A6-7B7F-7481-68DF-7B2FE7BDC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Windows és Linux Szerver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669FDB68-DD8A-EB12-BB1B-A7A0730B4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58343" y="1823757"/>
            <a:ext cx="5064665" cy="2934441"/>
          </a:xfrm>
        </p:spPr>
        <p:txBody>
          <a:bodyPr>
            <a:normAutofit lnSpcReduction="10000"/>
          </a:bodyPr>
          <a:lstStyle/>
          <a:p>
            <a:pPr algn="ctr"/>
            <a:r>
              <a:rPr lang="hu-HU" dirty="0"/>
              <a:t>DHCP</a:t>
            </a:r>
          </a:p>
          <a:p>
            <a:pPr algn="ctr"/>
            <a:r>
              <a:rPr lang="hu-HU" dirty="0"/>
              <a:t>DNS</a:t>
            </a:r>
          </a:p>
          <a:p>
            <a:pPr algn="ctr"/>
            <a:r>
              <a:rPr lang="hu-HU" dirty="0"/>
              <a:t>IIS</a:t>
            </a:r>
          </a:p>
          <a:p>
            <a:pPr algn="ctr"/>
            <a:r>
              <a:rPr lang="hu-HU" dirty="0"/>
              <a:t>Active-Directory</a:t>
            </a:r>
          </a:p>
          <a:p>
            <a:pPr algn="ctr"/>
            <a:r>
              <a:rPr lang="hu-HU" dirty="0"/>
              <a:t>Printer Szerver</a:t>
            </a:r>
          </a:p>
          <a:p>
            <a:pPr algn="ctr"/>
            <a:r>
              <a:rPr lang="hu-HU" dirty="0"/>
              <a:t>Backup Szerver</a:t>
            </a:r>
          </a:p>
          <a:p>
            <a:pPr algn="ctr"/>
            <a:r>
              <a:rPr lang="hu-HU" dirty="0"/>
              <a:t>Group Policy Management</a:t>
            </a:r>
          </a:p>
        </p:txBody>
      </p:sp>
      <p:pic>
        <p:nvPicPr>
          <p:cNvPr id="1026" name="Picture 2" descr="windows-server-logo">
            <a:extLst>
              <a:ext uri="{FF2B5EF4-FFF2-40B4-BE49-F238E27FC236}">
                <a16:creationId xmlns:a16="http://schemas.microsoft.com/office/drawing/2014/main" id="{DD02D43E-5EC7-5B2A-6DC0-0BFFCEBCF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462" y="4594508"/>
            <a:ext cx="4037162" cy="2134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Tartalom helye 16" descr="A képen művészet, kör, Grafika, Színesség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1C049FE0-AFFE-C61A-1737-BD2302C8A06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7434" y="4594508"/>
            <a:ext cx="1951570" cy="2134754"/>
          </a:xfrm>
        </p:spPr>
      </p:pic>
    </p:spTree>
    <p:extLst>
      <p:ext uri="{BB962C8B-B14F-4D97-AF65-F5344CB8AC3E}">
        <p14:creationId xmlns:p14="http://schemas.microsoft.com/office/powerpoint/2010/main" val="4268629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3817A90-70AB-88FD-8997-FAE17BD06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Egyéb </a:t>
            </a:r>
            <a:r>
              <a:rPr lang="hu-HU" dirty="0">
                <a:solidFill>
                  <a:schemeClr val="tx1"/>
                </a:solidFill>
              </a:rPr>
              <a:t>Szoftverek</a:t>
            </a:r>
            <a:r>
              <a:rPr lang="hu-HU" dirty="0"/>
              <a:t> és Eszközök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13F8569-CD79-F84A-F95A-B3B5D3C947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6210" y="2235546"/>
            <a:ext cx="9955488" cy="3409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i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Discord</a:t>
            </a:r>
            <a:r>
              <a:rPr kumimoji="0" lang="hu-HU" altLang="hu-HU" sz="28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Csapatkommunikáció.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Google Drive: Dokumentumkezelés és tárolás.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OBS </a:t>
            </a:r>
            <a:r>
              <a:rPr kumimoji="0" lang="hu-HU" altLang="hu-HU" sz="2800" i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Studio</a:t>
            </a:r>
            <a:r>
              <a:rPr kumimoji="0" lang="hu-HU" altLang="hu-HU" sz="28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Nyersanyagok rögzítése.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i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DaVinci</a:t>
            </a:r>
            <a:r>
              <a:rPr kumimoji="0" lang="hu-HU" altLang="hu-HU" sz="28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hu-HU" altLang="hu-HU" sz="2800" i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Resolve</a:t>
            </a:r>
            <a:r>
              <a:rPr kumimoji="0" lang="hu-HU" altLang="hu-HU" sz="28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Utómunka és videóvágás.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884EBEC-911B-91FB-A5F1-36ABE73D8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9114" y="1894647"/>
            <a:ext cx="1476688" cy="1476688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9878442B-F701-A822-7B5D-4B954FCCD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9761" y="2235546"/>
            <a:ext cx="2792239" cy="2792239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D8EE2C5E-3331-3575-CA74-F9363DFEA1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9114" y="3712234"/>
            <a:ext cx="1737786" cy="1737786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AE86E2E1-76D5-1E44-1EC4-0D73A5812C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6987" y="4776304"/>
            <a:ext cx="1737785" cy="173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133176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7AB2B2-57D3-A109-613B-792764AA5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Munkamegosztás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A736794A-A1C3-1C84-3D27-0ADA8C681D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80"/>
          <a:stretch/>
        </p:blipFill>
        <p:spPr>
          <a:xfrm>
            <a:off x="991783" y="1803628"/>
            <a:ext cx="10197786" cy="456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631734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F14126-DC72-2F50-D80B-DDD36B6568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hu-HU" sz="7200" dirty="0"/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4284673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la">
  <a:themeElements>
    <a:clrScheme name="Pal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Pal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l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TM04033929[[fn=Pala]]</Template>
  <TotalTime>362</TotalTime>
  <Words>235</Words>
  <Application>Microsoft Office PowerPoint</Application>
  <PresentationFormat>Szélesvásznú</PresentationFormat>
  <Paragraphs>102</Paragraphs>
  <Slides>21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21</vt:i4>
      </vt:variant>
    </vt:vector>
  </HeadingPairs>
  <TitlesOfParts>
    <vt:vector size="27" baseType="lpstr">
      <vt:lpstr>Arial</vt:lpstr>
      <vt:lpstr>Bahnschrift SemiBold</vt:lpstr>
      <vt:lpstr>Calisto MT</vt:lpstr>
      <vt:lpstr>Wingdings</vt:lpstr>
      <vt:lpstr>Wingdings 2</vt:lpstr>
      <vt:lpstr>Pala</vt:lpstr>
      <vt:lpstr>Vanguard-Network</vt:lpstr>
      <vt:lpstr>Bemutatkozó</vt:lpstr>
      <vt:lpstr>Csapatunk</vt:lpstr>
      <vt:lpstr>Teljes hálózat felépítése</vt:lpstr>
      <vt:lpstr>Oktatás</vt:lpstr>
      <vt:lpstr>Iroda</vt:lpstr>
      <vt:lpstr>Diszpécser</vt:lpstr>
      <vt:lpstr>Szállás</vt:lpstr>
      <vt:lpstr>Porta</vt:lpstr>
      <vt:lpstr>Egészségügy</vt:lpstr>
      <vt:lpstr>Raktár</vt:lpstr>
      <vt:lpstr>Hangárok</vt:lpstr>
      <vt:lpstr>Admin Szoba</vt:lpstr>
      <vt:lpstr>Parancsnoki Központ</vt:lpstr>
      <vt:lpstr>Internet Szolgáltató (ISP)</vt:lpstr>
      <vt:lpstr>Tesztelés</vt:lpstr>
      <vt:lpstr>Jira, Scrum &amp; GitHub</vt:lpstr>
      <vt:lpstr>Windows és Linux Szerver</vt:lpstr>
      <vt:lpstr>Egyéb Szoftverek és Eszközök</vt:lpstr>
      <vt:lpstr>Munkamegosztás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Patrik Grecz</dc:creator>
  <cp:lastModifiedBy>Patrik Grecz</cp:lastModifiedBy>
  <cp:revision>20</cp:revision>
  <dcterms:created xsi:type="dcterms:W3CDTF">2026-01-06T09:33:17Z</dcterms:created>
  <dcterms:modified xsi:type="dcterms:W3CDTF">2026-02-17T12:15:23Z</dcterms:modified>
</cp:coreProperties>
</file>